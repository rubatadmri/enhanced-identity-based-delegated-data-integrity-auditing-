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Inter" panose="02000503000000020004" pitchFamily="34" charset="0"/>
      <p:regular r:id="rId17"/>
      <p:bold r:id="rId18"/>
      <p:italic r:id="rId19"/>
      <p:boldItalic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3"/>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508000"/>
            <a:ext cx="10972800" cy="438150"/>
          </a:xfrm>
          <a:prstGeom prst="rect">
            <a:avLst/>
          </a:prstGeom>
          <a:noFill/>
          <a:ln/>
        </p:spPr>
        <p:txBody>
          <a:bodyPr wrap="square" lIns="0" tIns="0" rIns="0" bIns="0" rtlCol="0" anchor="t"/>
          <a:lstStyle>
            <a:lvl1pPr algn="l" indent="0" marL="0">
              <a:lnSpc>
                <a:spcPct val="115000"/>
              </a:lnSpc>
              <a:buNone/>
              <a:defRPr lang="en-US" sz="3000" dirty="0">
                <a:solidFill>
                  <a:srgbClr val="1F2A37"/>
                </a:solidFill>
                <a:latin typeface="Inter" pitchFamily="34" charset="0"/>
                <a:ea typeface="Inter" pitchFamily="34" charset="-122"/>
                <a:cs typeface="Inte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609600" y="1250950"/>
            <a:ext cx="10769600" cy="4794250"/>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508000"/>
            <a:ext cx="10972800" cy="438150"/>
          </a:xfrm>
          <a:prstGeom prst="rect">
            <a:avLst/>
          </a:prstGeom>
          <a:noFill/>
          <a:ln/>
        </p:spPr>
        <p:txBody>
          <a:bodyPr wrap="square" lIns="0" tIns="0" rIns="0" bIns="0" rtlCol="0" anchor="t"/>
          <a:lstStyle>
            <a:lvl1pPr algn="l" indent="0" marL="0">
              <a:lnSpc>
                <a:spcPct val="115000"/>
              </a:lnSpc>
              <a:buNone/>
              <a:defRPr lang="en-US" sz="3000" dirty="0">
                <a:solidFill>
                  <a:srgbClr val="1F2A37"/>
                </a:solidFill>
                <a:latin typeface="Inter" pitchFamily="34" charset="0"/>
                <a:ea typeface="Inter" pitchFamily="34" charset="-122"/>
                <a:cs typeface="Inte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609600" y="1250950"/>
            <a:ext cx="10769600" cy="4794250"/>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3"/>
        </a:solidFill>
      </p:bgPr>
    </p:bg>
    <p:spTree>
      <p:nvGrpSpPr>
        <p:cNvPr id="1" name=""/>
        <p:cNvGrpSpPr/>
        <p:nvPr/>
      </p:nvGrpSpPr>
      <p:grpSpPr>
        <a:xfrm>
          <a:off x="0" y="0"/>
          <a:ext cx="0" cy="0"/>
          <a:chOff x="0" y="0"/>
          <a:chExt cx="0" cy="0"/>
        </a:xfrm>
      </p:grpSpPr>
      <p:pic>
        <p:nvPicPr>
          <p:cNvPr id="2" name="Image 0" descr="Syrian Private University logo">    </p:cNvPr>
          <p:cNvPicPr>
            <a:picLocks noChangeAspect="1"/>
          </p:cNvPicPr>
          <p:nvPr/>
        </p:nvPicPr>
        <p:blipFill>
          <a:blip r:embed="rId1"/>
          <a:srcRect l="-45" r="-45" t="0" b="0"/>
          <a:stretch/>
        </p:blipFill>
        <p:spPr>
          <a:xfrm>
            <a:off x="812800" y="609600"/>
            <a:ext cx="1651000" cy="1219200"/>
          </a:xfrm>
          <a:prstGeom prst="rect">
            <a:avLst/>
          </a:prstGeom>
        </p:spPr>
      </p:pic>
      <p:sp>
        <p:nvSpPr>
          <p:cNvPr id="3" name="Text 0"/>
          <p:cNvSpPr/>
          <p:nvPr/>
        </p:nvSpPr>
        <p:spPr>
          <a:xfrm>
            <a:off x="812800" y="2415580"/>
            <a:ext cx="981075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8F84"/>
                </a:solidFill>
                <a:latin typeface="Inter" pitchFamily="34" charset="0"/>
                <a:ea typeface="Inter" pitchFamily="34" charset="-122"/>
                <a:cs typeface="Inter" pitchFamily="34" charset="-120"/>
              </a:rPr>
              <a:t>PROJECT TITLE</a:t>
            </a:r>
            <a:endParaRPr lang="en-US" sz="1400" dirty="0"/>
          </a:p>
        </p:txBody>
      </p:sp>
      <p:sp>
        <p:nvSpPr>
          <p:cNvPr id="4" name="Text 1"/>
          <p:cNvSpPr/>
          <p:nvPr>
            <p:ph type="title"/>
          </p:nvPr>
        </p:nvSpPr>
        <p:spPr>
          <a:xfrm>
            <a:off x="812800" y="2867620"/>
            <a:ext cx="9810750" cy="1625600"/>
          </a:xfrm>
          <a:prstGeom prst="rect">
            <a:avLst/>
          </a:prstGeom>
          <a:noFill/>
          <a:ln/>
        </p:spPr>
        <p:txBody>
          <a:bodyPr wrap="square" lIns="0" tIns="0" rIns="0" bIns="0" rtlCol="0" anchor="t">
            <a:normAutofit/>
          </a:bodyPr>
          <a:lstStyle/>
          <a:p>
            <a:pPr algn="l" indent="0" marL="0">
              <a:lnSpc>
                <a:spcPts val="4200"/>
              </a:lnSpc>
              <a:buNone/>
            </a:pPr>
            <a:r>
              <a:rPr lang="en-US" sz="3500" b="1" i="0" dirty="0">
                <a:solidFill>
                  <a:srgbClr val="1F2A37"/>
                </a:solidFill>
                <a:latin typeface="Inter" pitchFamily="34" charset="0"/>
                <a:ea typeface="Inter" pitchFamily="34" charset="-122"/>
                <a:cs typeface="Inter" pitchFamily="34" charset="-120"/>
              </a:rPr>
              <a:t>Enhanced Identity-Based Delegated Data Integrity Auditing for Secure Cloud Storage Using Digital Signatures and SIEM</a:t>
            </a:r>
            <a:endParaRPr lang="en-US" sz="3500" dirty="0"/>
          </a:p>
        </p:txBody>
      </p:sp>
      <p:pic>
        <p:nvPicPr>
          <p:cNvPr id="5" name="Image 1" descr="line">    </p:cNvPr>
          <p:cNvPicPr>
            <a:picLocks noChangeAspect="1"/>
          </p:cNvPicPr>
          <p:nvPr/>
        </p:nvPicPr>
        <p:blipFill>
          <a:blip r:embed="rId2"/>
          <a:srcRect l="0" r="0" t="0" b="0"/>
          <a:stretch/>
        </p:blipFill>
        <p:spPr>
          <a:xfrm>
            <a:off x="812800" y="4671020"/>
            <a:ext cx="1016000" cy="38100"/>
          </a:xfrm>
          <a:prstGeom prst="rect">
            <a:avLst/>
          </a:prstGeom>
        </p:spPr>
      </p:pic>
      <p:sp>
        <p:nvSpPr>
          <p:cNvPr id="6" name="Text 2"/>
          <p:cNvSpPr/>
          <p:nvPr/>
        </p:nvSpPr>
        <p:spPr>
          <a:xfrm>
            <a:off x="812800" y="4912320"/>
            <a:ext cx="98107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3"/>
                </a:solidFill>
                <a:latin typeface="Inter" pitchFamily="34" charset="0"/>
                <a:ea typeface="Inter" pitchFamily="34" charset="-122"/>
                <a:cs typeface="Inter" pitchFamily="34" charset="-120"/>
              </a:rPr>
              <a:t>Syrian Private University · Faculty of Artificial Intelligence Engineering</a:t>
            </a:r>
            <a:endParaRPr lang="en-US" sz="1400" dirty="0"/>
          </a:p>
        </p:txBody>
      </p:sp>
      <p:sp>
        <p:nvSpPr>
          <p:cNvPr id="7" name="Text 3"/>
          <p:cNvSpPr/>
          <p:nvPr/>
        </p:nvSpPr>
        <p:spPr>
          <a:xfrm>
            <a:off x="812800" y="5747941"/>
            <a:ext cx="2750382"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573"/>
                </a:solidFill>
                <a:latin typeface="Inter" pitchFamily="34" charset="0"/>
                <a:ea typeface="Inter" pitchFamily="34" charset="-122"/>
                <a:cs typeface="Inter" pitchFamily="34" charset="-120"/>
              </a:rPr>
              <a:t>Prepared by</a:t>
            </a:r>
            <a:endParaRPr lang="en-US" sz="1100" dirty="0"/>
          </a:p>
        </p:txBody>
      </p:sp>
      <p:sp>
        <p:nvSpPr>
          <p:cNvPr id="8" name="Text 4"/>
          <p:cNvSpPr/>
          <p:nvPr/>
        </p:nvSpPr>
        <p:spPr>
          <a:xfrm>
            <a:off x="812800" y="5981601"/>
            <a:ext cx="31782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nter" pitchFamily="34" charset="0"/>
                <a:ea typeface="Inter" pitchFamily="34" charset="-122"/>
                <a:cs typeface="Inter" pitchFamily="34" charset="-120"/>
              </a:rPr>
              <a:t>Ruba Tadmory &amp; Nawar Alani</a:t>
            </a:r>
            <a:endParaRPr lang="en-US" sz="1500" dirty="0"/>
          </a:p>
        </p:txBody>
      </p:sp>
      <p:sp>
        <p:nvSpPr>
          <p:cNvPr id="9" name="Text 5"/>
          <p:cNvSpPr/>
          <p:nvPr/>
        </p:nvSpPr>
        <p:spPr>
          <a:xfrm>
            <a:off x="3991074" y="5747941"/>
            <a:ext cx="1625302"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573"/>
                </a:solidFill>
                <a:latin typeface="Inter" pitchFamily="34" charset="0"/>
                <a:ea typeface="Inter" pitchFamily="34" charset="-122"/>
                <a:cs typeface="Inter" pitchFamily="34" charset="-120"/>
              </a:rPr>
              <a:t>Supervised by</a:t>
            </a:r>
            <a:endParaRPr lang="en-US" sz="1100" dirty="0"/>
          </a:p>
        </p:txBody>
      </p:sp>
      <p:sp>
        <p:nvSpPr>
          <p:cNvPr id="10" name="Text 6"/>
          <p:cNvSpPr/>
          <p:nvPr/>
        </p:nvSpPr>
        <p:spPr>
          <a:xfrm>
            <a:off x="3991074" y="5981601"/>
            <a:ext cx="18894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nter" pitchFamily="34" charset="0"/>
                <a:ea typeface="Inter" pitchFamily="34" charset="-122"/>
                <a:cs typeface="Inter" pitchFamily="34" charset="-120"/>
              </a:rPr>
              <a:t>Wassim Aljuneidi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609600" y="508000"/>
            <a:ext cx="1130198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37"/>
                </a:solidFill>
                <a:latin typeface="Inter" pitchFamily="34" charset="0"/>
                <a:ea typeface="Inter" pitchFamily="34" charset="-122"/>
                <a:cs typeface="Inter" pitchFamily="34" charset="-120"/>
              </a:rPr>
              <a:t>Introduction, Problem and Objective</a:t>
            </a:r>
            <a:endParaRPr lang="en-US" sz="3000" dirty="0"/>
          </a:p>
        </p:txBody>
      </p:sp>
      <p:sp>
        <p:nvSpPr>
          <p:cNvPr id="3" name="Shape 1"/>
          <p:cNvSpPr/>
          <p:nvPr/>
        </p:nvSpPr>
        <p:spPr>
          <a:xfrm>
            <a:off x="612775" y="1127125"/>
            <a:ext cx="10966450" cy="844550"/>
          </a:xfrm>
          <a:prstGeom prst="roundRect">
            <a:avLst>
              <a:gd name="adj" fmla="val 11654"/>
            </a:avLst>
          </a:prstGeom>
          <a:solidFill>
            <a:srgbClr val="FAF8F3"/>
          </a:solidFill>
          <a:ln w="6350">
            <a:solidFill>
              <a:srgbClr val="E3DDCF"/>
            </a:solidFill>
            <a:prstDash val="solid"/>
          </a:ln>
        </p:spPr>
      </p:sp>
      <p:sp>
        <p:nvSpPr>
          <p:cNvPr id="4" name="Text 2"/>
          <p:cNvSpPr/>
          <p:nvPr/>
        </p:nvSpPr>
        <p:spPr>
          <a:xfrm>
            <a:off x="793750" y="142746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Background</a:t>
            </a:r>
            <a:endParaRPr lang="en-US" sz="1600" dirty="0"/>
          </a:p>
        </p:txBody>
      </p:sp>
      <p:sp>
        <p:nvSpPr>
          <p:cNvPr id="5" name="Text 3"/>
          <p:cNvSpPr/>
          <p:nvPr/>
        </p:nvSpPr>
        <p:spPr>
          <a:xfrm>
            <a:off x="2952750" y="1282700"/>
            <a:ext cx="869886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Cloud storage lets owners outsource their data but removes their direct control. Owners often need another user to upload files on their behalf.</a:t>
            </a:r>
            <a:endParaRPr lang="en-US" sz="1500" dirty="0"/>
          </a:p>
        </p:txBody>
      </p:sp>
      <p:sp>
        <p:nvSpPr>
          <p:cNvPr id="6" name="Shape 4"/>
          <p:cNvSpPr/>
          <p:nvPr/>
        </p:nvSpPr>
        <p:spPr>
          <a:xfrm>
            <a:off x="612775" y="2155825"/>
            <a:ext cx="10966450" cy="844550"/>
          </a:xfrm>
          <a:prstGeom prst="roundRect">
            <a:avLst>
              <a:gd name="adj" fmla="val 11654"/>
            </a:avLst>
          </a:prstGeom>
          <a:solidFill>
            <a:srgbClr val="FAF8F3"/>
          </a:solidFill>
          <a:ln w="6350">
            <a:solidFill>
              <a:srgbClr val="E3DDCF"/>
            </a:solidFill>
            <a:prstDash val="solid"/>
          </a:ln>
        </p:spPr>
      </p:sp>
      <p:sp>
        <p:nvSpPr>
          <p:cNvPr id="7" name="Text 5"/>
          <p:cNvSpPr/>
          <p:nvPr/>
        </p:nvSpPr>
        <p:spPr>
          <a:xfrm>
            <a:off x="793750" y="245616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Problem</a:t>
            </a:r>
            <a:endParaRPr lang="en-US" sz="1600" dirty="0"/>
          </a:p>
        </p:txBody>
      </p:sp>
      <p:sp>
        <p:nvSpPr>
          <p:cNvPr id="8" name="Text 6"/>
          <p:cNvSpPr/>
          <p:nvPr/>
        </p:nvSpPr>
        <p:spPr>
          <a:xfrm>
            <a:off x="2952750" y="2311400"/>
            <a:ext cx="869886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Uncontrolled delegation exposes the cloud to impersonation, privilege abuse, and replayed requests. Existing work covers delegation, evidence, or monitoring separately, not together.</a:t>
            </a:r>
            <a:endParaRPr lang="en-US" sz="1500" dirty="0"/>
          </a:p>
        </p:txBody>
      </p:sp>
      <p:sp>
        <p:nvSpPr>
          <p:cNvPr id="9" name="Shape 7"/>
          <p:cNvSpPr/>
          <p:nvPr/>
        </p:nvSpPr>
        <p:spPr>
          <a:xfrm>
            <a:off x="612775" y="3184525"/>
            <a:ext cx="10966450" cy="844550"/>
          </a:xfrm>
          <a:prstGeom prst="roundRect">
            <a:avLst>
              <a:gd name="adj" fmla="val 11654"/>
            </a:avLst>
          </a:prstGeom>
          <a:solidFill>
            <a:srgbClr val="FAF8F3"/>
          </a:solidFill>
          <a:ln w="6350">
            <a:solidFill>
              <a:srgbClr val="E3DDCF"/>
            </a:solidFill>
            <a:prstDash val="solid"/>
          </a:ln>
        </p:spPr>
      </p:sp>
      <p:sp>
        <p:nvSpPr>
          <p:cNvPr id="10" name="Text 8"/>
          <p:cNvSpPr/>
          <p:nvPr/>
        </p:nvSpPr>
        <p:spPr>
          <a:xfrm>
            <a:off x="793750" y="348486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Objective</a:t>
            </a:r>
            <a:endParaRPr lang="en-US" sz="1600" dirty="0"/>
          </a:p>
        </p:txBody>
      </p:sp>
      <p:sp>
        <p:nvSpPr>
          <p:cNvPr id="11" name="Text 9"/>
          <p:cNvSpPr/>
          <p:nvPr/>
        </p:nvSpPr>
        <p:spPr>
          <a:xfrm>
            <a:off x="2952750" y="3340100"/>
            <a:ext cx="869886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Build a framework that combines identity-based controlled delegation, data integrity auditing, digital signatures, and SIEM monitoring.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7"/>
                </a:solidFill>
                <a:latin typeface="Inter" pitchFamily="34" charset="0"/>
                <a:ea typeface="Inter" pitchFamily="34" charset="-122"/>
                <a:cs typeface="Inter" pitchFamily="34" charset="-120"/>
              </a:rPr>
              <a:t>Previously Completed Phases</a:t>
            </a:r>
            <a:endParaRPr lang="en-US" sz="3200" dirty="0"/>
          </a:p>
        </p:txBody>
      </p:sp>
      <p:sp>
        <p:nvSpPr>
          <p:cNvPr id="3" name="Text 1"/>
          <p:cNvSpPr/>
          <p:nvPr/>
        </p:nvSpPr>
        <p:spPr>
          <a:xfrm>
            <a:off x="812800" y="1394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573"/>
                </a:solidFill>
                <a:latin typeface="Inter" pitchFamily="34" charset="0"/>
                <a:ea typeface="Inter" pitchFamily="34" charset="-122"/>
                <a:cs typeface="Inter" pitchFamily="34" charset="-120"/>
              </a:rPr>
              <a:t>Applications Project: MPNR framework based on Feng &amp; Chen (2013)</a:t>
            </a:r>
            <a:endParaRPr lang="en-US" sz="1600" dirty="0"/>
          </a:p>
        </p:txBody>
      </p:sp>
      <p:sp>
        <p:nvSpPr>
          <p:cNvPr id="4" name="Shape 2"/>
          <p:cNvSpPr/>
          <p:nvPr/>
        </p:nvSpPr>
        <p:spPr>
          <a:xfrm>
            <a:off x="815975" y="1910655"/>
            <a:ext cx="5187950" cy="1189930"/>
          </a:xfrm>
          <a:prstGeom prst="roundRect">
            <a:avLst>
              <a:gd name="adj" fmla="val 8271"/>
            </a:avLst>
          </a:prstGeom>
          <a:solidFill>
            <a:srgbClr val="FFFFFF"/>
          </a:solidFill>
          <a:ln w="6350">
            <a:solidFill>
              <a:srgbClr val="E3DDCF"/>
            </a:solidFill>
            <a:prstDash val="solid"/>
          </a:ln>
        </p:spPr>
      </p:sp>
      <p:sp>
        <p:nvSpPr>
          <p:cNvPr id="5" name="Text 3"/>
          <p:cNvSpPr/>
          <p:nvPr/>
        </p:nvSpPr>
        <p:spPr>
          <a:xfrm>
            <a:off x="1022350" y="209163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Storage</a:t>
            </a:r>
            <a:endParaRPr lang="en-US" sz="1600" dirty="0"/>
          </a:p>
        </p:txBody>
      </p:sp>
      <p:sp>
        <p:nvSpPr>
          <p:cNvPr id="6" name="Text 4"/>
          <p:cNvSpPr/>
          <p:nvPr/>
        </p:nvSpPr>
        <p:spPr>
          <a:xfrm>
            <a:off x="1022350" y="2386211"/>
            <a:ext cx="491845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Nextcloud on Ubuntu Server</a:t>
            </a:r>
            <a:endParaRPr lang="en-US" sz="1500" dirty="0"/>
          </a:p>
        </p:txBody>
      </p:sp>
      <p:sp>
        <p:nvSpPr>
          <p:cNvPr id="7" name="Shape 5"/>
          <p:cNvSpPr/>
          <p:nvPr/>
        </p:nvSpPr>
        <p:spPr>
          <a:xfrm>
            <a:off x="6188075" y="1910655"/>
            <a:ext cx="5187950" cy="1189930"/>
          </a:xfrm>
          <a:prstGeom prst="roundRect">
            <a:avLst>
              <a:gd name="adj" fmla="val 8271"/>
            </a:avLst>
          </a:prstGeom>
          <a:solidFill>
            <a:srgbClr val="FFFFFF"/>
          </a:solidFill>
          <a:ln w="6350">
            <a:solidFill>
              <a:srgbClr val="E3DDCF"/>
            </a:solidFill>
            <a:prstDash val="solid"/>
          </a:ln>
        </p:spPr>
      </p:sp>
      <p:sp>
        <p:nvSpPr>
          <p:cNvPr id="8" name="Text 6"/>
          <p:cNvSpPr/>
          <p:nvPr/>
        </p:nvSpPr>
        <p:spPr>
          <a:xfrm>
            <a:off x="6394450" y="209163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Signatures</a:t>
            </a:r>
            <a:endParaRPr lang="en-US" sz="1600" dirty="0"/>
          </a:p>
        </p:txBody>
      </p:sp>
      <p:sp>
        <p:nvSpPr>
          <p:cNvPr id="9" name="Text 7"/>
          <p:cNvSpPr/>
          <p:nvPr/>
        </p:nvSpPr>
        <p:spPr>
          <a:xfrm>
            <a:off x="6394450" y="2386211"/>
            <a:ext cx="491845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RSA with SHA-256 hashing for authenticity and integrity</a:t>
            </a:r>
            <a:endParaRPr lang="en-US" sz="1500" dirty="0"/>
          </a:p>
        </p:txBody>
      </p:sp>
      <p:sp>
        <p:nvSpPr>
          <p:cNvPr id="10" name="Shape 8"/>
          <p:cNvSpPr/>
          <p:nvPr/>
        </p:nvSpPr>
        <p:spPr>
          <a:xfrm>
            <a:off x="815975" y="3284736"/>
            <a:ext cx="5187950" cy="1189930"/>
          </a:xfrm>
          <a:prstGeom prst="roundRect">
            <a:avLst>
              <a:gd name="adj" fmla="val 8271"/>
            </a:avLst>
          </a:prstGeom>
          <a:solidFill>
            <a:srgbClr val="FFFFFF"/>
          </a:solidFill>
          <a:ln w="6350">
            <a:solidFill>
              <a:srgbClr val="E3DDCF"/>
            </a:solidFill>
            <a:prstDash val="solid"/>
          </a:ln>
        </p:spPr>
      </p:sp>
      <p:sp>
        <p:nvSpPr>
          <p:cNvPr id="11" name="Text 9"/>
          <p:cNvSpPr/>
          <p:nvPr/>
        </p:nvSpPr>
        <p:spPr>
          <a:xfrm>
            <a:off x="1022350" y="3465711"/>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Evidence</a:t>
            </a:r>
            <a:endParaRPr lang="en-US" sz="1600" dirty="0"/>
          </a:p>
        </p:txBody>
      </p:sp>
      <p:sp>
        <p:nvSpPr>
          <p:cNvPr id="12" name="Text 10"/>
          <p:cNvSpPr/>
          <p:nvPr/>
        </p:nvSpPr>
        <p:spPr>
          <a:xfrm>
            <a:off x="1022350" y="3760291"/>
            <a:ext cx="491845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Broadcast Session, non-repudiation receipt (NRR), and Trusted Third Party (TTP)</a:t>
            </a:r>
            <a:endParaRPr lang="en-US" sz="1500" dirty="0"/>
          </a:p>
        </p:txBody>
      </p:sp>
      <p:sp>
        <p:nvSpPr>
          <p:cNvPr id="13" name="Shape 11"/>
          <p:cNvSpPr/>
          <p:nvPr/>
        </p:nvSpPr>
        <p:spPr>
          <a:xfrm>
            <a:off x="6188075" y="3284736"/>
            <a:ext cx="5187950" cy="1189930"/>
          </a:xfrm>
          <a:prstGeom prst="roundRect">
            <a:avLst>
              <a:gd name="adj" fmla="val 8271"/>
            </a:avLst>
          </a:prstGeom>
          <a:solidFill>
            <a:srgbClr val="FFFFFF"/>
          </a:solidFill>
          <a:ln w="6350">
            <a:solidFill>
              <a:srgbClr val="E3DDCF"/>
            </a:solidFill>
            <a:prstDash val="solid"/>
          </a:ln>
        </p:spPr>
      </p:sp>
      <p:sp>
        <p:nvSpPr>
          <p:cNvPr id="14" name="Text 12"/>
          <p:cNvSpPr/>
          <p:nvPr/>
        </p:nvSpPr>
        <p:spPr>
          <a:xfrm>
            <a:off x="6394450" y="3465711"/>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Monitoring</a:t>
            </a:r>
            <a:endParaRPr lang="en-US" sz="1600" dirty="0"/>
          </a:p>
        </p:txBody>
      </p:sp>
      <p:sp>
        <p:nvSpPr>
          <p:cNvPr id="15" name="Text 13"/>
          <p:cNvSpPr/>
          <p:nvPr/>
        </p:nvSpPr>
        <p:spPr>
          <a:xfrm>
            <a:off x="6394450" y="3760291"/>
            <a:ext cx="491845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nter" pitchFamily="34" charset="0"/>
                <a:ea typeface="Inter" pitchFamily="34" charset="-122"/>
                <a:cs typeface="Inter" pitchFamily="34" charset="-120"/>
              </a:rPr>
              <a:t>Wazuh custom rules for signature failures and rollback attacks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Text 0"/>
          <p:cNvSpPr/>
          <p:nvPr>
            <p:ph type="title"/>
          </p:nvPr>
        </p:nvSpPr>
        <p:spPr>
          <a:xfrm>
            <a:off x="609600" y="508000"/>
            <a:ext cx="1130198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37"/>
                </a:solidFill>
                <a:latin typeface="Inter" pitchFamily="34" charset="0"/>
                <a:ea typeface="Inter" pitchFamily="34" charset="-122"/>
                <a:cs typeface="Inter" pitchFamily="34" charset="-120"/>
              </a:rPr>
              <a:t>Literature Review</a:t>
            </a:r>
            <a:endParaRPr lang="en-US" sz="3000" dirty="0"/>
          </a:p>
        </p:txBody>
      </p:sp>
      <p:sp>
        <p:nvSpPr>
          <p:cNvPr id="3" name="Text 1"/>
          <p:cNvSpPr/>
          <p:nvPr/>
        </p:nvSpPr>
        <p:spPr>
          <a:xfrm>
            <a:off x="787400" y="1123950"/>
            <a:ext cx="44039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8F84"/>
                </a:solidFill>
                <a:latin typeface="Inter" pitchFamily="34" charset="0"/>
                <a:ea typeface="Inter" pitchFamily="34" charset="-122"/>
                <a:cs typeface="Inter" pitchFamily="34" charset="-120"/>
              </a:rPr>
              <a:t>Paper</a:t>
            </a:r>
            <a:endParaRPr lang="en-US" sz="1200" dirty="0"/>
          </a:p>
        </p:txBody>
      </p:sp>
      <p:sp>
        <p:nvSpPr>
          <p:cNvPr id="4" name="Text 2"/>
          <p:cNvSpPr/>
          <p:nvPr/>
        </p:nvSpPr>
        <p:spPr>
          <a:xfrm>
            <a:off x="5240834" y="1123950"/>
            <a:ext cx="26423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8F84"/>
                </a:solidFill>
                <a:latin typeface="Inter" pitchFamily="34" charset="0"/>
                <a:ea typeface="Inter" pitchFamily="34" charset="-122"/>
                <a:cs typeface="Inter" pitchFamily="34" charset="-120"/>
              </a:rPr>
              <a:t>Authors, publisher, year</a:t>
            </a:r>
            <a:endParaRPr lang="en-US" sz="1200" dirty="0"/>
          </a:p>
        </p:txBody>
      </p:sp>
      <p:sp>
        <p:nvSpPr>
          <p:cNvPr id="5" name="Text 3"/>
          <p:cNvSpPr/>
          <p:nvPr/>
        </p:nvSpPr>
        <p:spPr>
          <a:xfrm>
            <a:off x="7984034" y="1123950"/>
            <a:ext cx="35230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8F84"/>
                </a:solidFill>
                <a:latin typeface="Inter" pitchFamily="34" charset="0"/>
                <a:ea typeface="Inter" pitchFamily="34" charset="-122"/>
                <a:cs typeface="Inter" pitchFamily="34" charset="-120"/>
              </a:rPr>
              <a:t>What we gained</a:t>
            </a:r>
            <a:endParaRPr lang="en-US" sz="1200" dirty="0"/>
          </a:p>
        </p:txBody>
      </p:sp>
      <p:sp>
        <p:nvSpPr>
          <p:cNvPr id="6" name="Shape 4"/>
          <p:cNvSpPr/>
          <p:nvPr/>
        </p:nvSpPr>
        <p:spPr>
          <a:xfrm>
            <a:off x="612775" y="1518245"/>
            <a:ext cx="10966450" cy="905272"/>
          </a:xfrm>
          <a:prstGeom prst="roundRect">
            <a:avLst>
              <a:gd name="adj" fmla="val 10872"/>
            </a:avLst>
          </a:prstGeom>
          <a:solidFill>
            <a:srgbClr val="FFFFFF"/>
          </a:solidFill>
          <a:ln w="6350">
            <a:solidFill>
              <a:srgbClr val="E3DDCF"/>
            </a:solidFill>
            <a:prstDash val="solid"/>
          </a:ln>
        </p:spPr>
      </p:sp>
      <p:sp>
        <p:nvSpPr>
          <p:cNvPr id="7" name="Text 5"/>
          <p:cNvSpPr/>
          <p:nvPr/>
        </p:nvSpPr>
        <p:spPr>
          <a:xfrm>
            <a:off x="793750" y="1673820"/>
            <a:ext cx="4398486" cy="619522"/>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7"/>
                </a:solidFill>
                <a:latin typeface="Inter" pitchFamily="34" charset="0"/>
                <a:ea typeface="Inter" pitchFamily="34" charset="-122"/>
                <a:cs typeface="Inter" pitchFamily="34" charset="-120"/>
              </a:rPr>
              <a:t>Investigation on Storage-Level Data Integrity Strategies in Cloud Computing: Classification, Security Obstructions, Challenges and Vulnerability</a:t>
            </a:r>
            <a:endParaRPr lang="en-US" sz="1200" dirty="0"/>
          </a:p>
        </p:txBody>
      </p:sp>
      <p:sp>
        <p:nvSpPr>
          <p:cNvPr id="8" name="Text 6"/>
          <p:cNvSpPr/>
          <p:nvPr/>
        </p:nvSpPr>
        <p:spPr>
          <a:xfrm>
            <a:off x="5241925" y="1772841"/>
            <a:ext cx="263909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P. Goswami et al., Journal of Cloud Computing, 2024</a:t>
            </a:r>
            <a:endParaRPr lang="en-US" sz="1200" dirty="0"/>
          </a:p>
        </p:txBody>
      </p:sp>
      <p:sp>
        <p:nvSpPr>
          <p:cNvPr id="9" name="Text 7"/>
          <p:cNvSpPr/>
          <p:nvPr/>
        </p:nvSpPr>
        <p:spPr>
          <a:xfrm>
            <a:off x="7981950" y="1772841"/>
            <a:ext cx="351878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Background on integrity threats and verification methods</a:t>
            </a:r>
            <a:endParaRPr lang="en-US" sz="1200" dirty="0"/>
          </a:p>
        </p:txBody>
      </p:sp>
      <p:sp>
        <p:nvSpPr>
          <p:cNvPr id="10" name="Shape 8"/>
          <p:cNvSpPr/>
          <p:nvPr/>
        </p:nvSpPr>
        <p:spPr>
          <a:xfrm>
            <a:off x="612775" y="2607667"/>
            <a:ext cx="10966450" cy="707231"/>
          </a:xfrm>
          <a:prstGeom prst="roundRect">
            <a:avLst>
              <a:gd name="adj" fmla="val 13917"/>
            </a:avLst>
          </a:prstGeom>
          <a:solidFill>
            <a:srgbClr val="FFFFFF"/>
          </a:solidFill>
          <a:ln w="6350">
            <a:solidFill>
              <a:srgbClr val="E3DDCF"/>
            </a:solidFill>
            <a:prstDash val="solid"/>
          </a:ln>
        </p:spPr>
      </p:sp>
      <p:sp>
        <p:nvSpPr>
          <p:cNvPr id="11" name="Text 9"/>
          <p:cNvSpPr/>
          <p:nvPr/>
        </p:nvSpPr>
        <p:spPr>
          <a:xfrm>
            <a:off x="793750" y="2763242"/>
            <a:ext cx="4398486"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7"/>
                </a:solidFill>
                <a:latin typeface="Inter" pitchFamily="34" charset="0"/>
                <a:ea typeface="Inter" pitchFamily="34" charset="-122"/>
                <a:cs typeface="Inter" pitchFamily="34" charset="-120"/>
              </a:rPr>
              <a:t>Identity-Based Controlled Delegated Outsourcing Data Integrity Auditing Scheme</a:t>
            </a:r>
            <a:endParaRPr lang="en-US" sz="1200" dirty="0"/>
          </a:p>
        </p:txBody>
      </p:sp>
      <p:sp>
        <p:nvSpPr>
          <p:cNvPr id="12" name="Text 10"/>
          <p:cNvSpPr/>
          <p:nvPr/>
        </p:nvSpPr>
        <p:spPr>
          <a:xfrm>
            <a:off x="5241925" y="2763242"/>
            <a:ext cx="263909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J. Du et al., Scientific Reports, 2024</a:t>
            </a:r>
            <a:endParaRPr lang="en-US" sz="1200" dirty="0"/>
          </a:p>
        </p:txBody>
      </p:sp>
      <p:sp>
        <p:nvSpPr>
          <p:cNvPr id="13" name="Text 11"/>
          <p:cNvSpPr/>
          <p:nvPr/>
        </p:nvSpPr>
        <p:spPr>
          <a:xfrm>
            <a:off x="7981950" y="2763242"/>
            <a:ext cx="351878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Main basis of our work: the controlled delegation idea behind CDAP</a:t>
            </a:r>
            <a:endParaRPr lang="en-US" sz="1200" dirty="0"/>
          </a:p>
        </p:txBody>
      </p:sp>
      <p:sp>
        <p:nvSpPr>
          <p:cNvPr id="14" name="Shape 12"/>
          <p:cNvSpPr/>
          <p:nvPr/>
        </p:nvSpPr>
        <p:spPr>
          <a:xfrm>
            <a:off x="612775" y="3499048"/>
            <a:ext cx="10966450" cy="707231"/>
          </a:xfrm>
          <a:prstGeom prst="roundRect">
            <a:avLst>
              <a:gd name="adj" fmla="val 13917"/>
            </a:avLst>
          </a:prstGeom>
          <a:solidFill>
            <a:srgbClr val="FFFFFF"/>
          </a:solidFill>
          <a:ln w="6350">
            <a:solidFill>
              <a:srgbClr val="E3DDCF"/>
            </a:solidFill>
            <a:prstDash val="solid"/>
          </a:ln>
        </p:spPr>
      </p:sp>
      <p:sp>
        <p:nvSpPr>
          <p:cNvPr id="15" name="Text 13"/>
          <p:cNvSpPr/>
          <p:nvPr/>
        </p:nvSpPr>
        <p:spPr>
          <a:xfrm>
            <a:off x="793750" y="3654623"/>
            <a:ext cx="4398486"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7"/>
                </a:solidFill>
                <a:latin typeface="Inter" pitchFamily="34" charset="0"/>
                <a:ea typeface="Inter" pitchFamily="34" charset="-122"/>
                <a:cs typeface="Inter" pitchFamily="34" charset="-120"/>
              </a:rPr>
              <a:t>Sec-Auditor: A Blockchain-Based Data Auditing Solution for Ensuring Integrity and Semantic Correctness</a:t>
            </a:r>
            <a:endParaRPr lang="en-US" sz="1200" dirty="0"/>
          </a:p>
        </p:txBody>
      </p:sp>
      <p:sp>
        <p:nvSpPr>
          <p:cNvPr id="16" name="Text 14"/>
          <p:cNvSpPr/>
          <p:nvPr/>
        </p:nvSpPr>
        <p:spPr>
          <a:xfrm>
            <a:off x="5241925" y="3654623"/>
            <a:ext cx="263909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G. Han and H. Li, Computers, Materials &amp; Continua, 2024</a:t>
            </a:r>
            <a:endParaRPr lang="en-US" sz="1200" dirty="0"/>
          </a:p>
        </p:txBody>
      </p:sp>
      <p:sp>
        <p:nvSpPr>
          <p:cNvPr id="17" name="Text 15"/>
          <p:cNvSpPr/>
          <p:nvPr/>
        </p:nvSpPr>
        <p:spPr>
          <a:xfrm>
            <a:off x="7981950" y="3654623"/>
            <a:ext cx="351878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Tamper-resistant audit records, kept as a future extension</a:t>
            </a:r>
            <a:endParaRPr lang="en-US" sz="1200" dirty="0"/>
          </a:p>
        </p:txBody>
      </p:sp>
      <p:sp>
        <p:nvSpPr>
          <p:cNvPr id="18" name="Shape 16"/>
          <p:cNvSpPr/>
          <p:nvPr/>
        </p:nvSpPr>
        <p:spPr>
          <a:xfrm>
            <a:off x="612775" y="4390430"/>
            <a:ext cx="10966450" cy="707231"/>
          </a:xfrm>
          <a:prstGeom prst="roundRect">
            <a:avLst>
              <a:gd name="adj" fmla="val 13917"/>
            </a:avLst>
          </a:prstGeom>
          <a:solidFill>
            <a:srgbClr val="FFFFFF"/>
          </a:solidFill>
          <a:ln w="6350">
            <a:solidFill>
              <a:srgbClr val="E3DDCF"/>
            </a:solidFill>
            <a:prstDash val="solid"/>
          </a:ln>
        </p:spPr>
      </p:sp>
      <p:sp>
        <p:nvSpPr>
          <p:cNvPr id="19" name="Text 17"/>
          <p:cNvSpPr/>
          <p:nvPr/>
        </p:nvSpPr>
        <p:spPr>
          <a:xfrm>
            <a:off x="793750" y="4546005"/>
            <a:ext cx="4398486"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7"/>
                </a:solidFill>
                <a:latin typeface="Inter" pitchFamily="34" charset="0"/>
                <a:ea typeface="Inter" pitchFamily="34" charset="-122"/>
                <a:cs typeface="Inter" pitchFamily="34" charset="-120"/>
              </a:rPr>
              <a:t>An Improved Blockchain-Based Cloud Auditing Scheme Using Dynamic Aggregate Signatures</a:t>
            </a:r>
            <a:endParaRPr lang="en-US" sz="1200" dirty="0"/>
          </a:p>
        </p:txBody>
      </p:sp>
      <p:sp>
        <p:nvSpPr>
          <p:cNvPr id="20" name="Text 18"/>
          <p:cNvSpPr/>
          <p:nvPr/>
        </p:nvSpPr>
        <p:spPr>
          <a:xfrm>
            <a:off x="5241925" y="4546005"/>
            <a:ext cx="2639092"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H. Lei et al., Computers, Materials &amp; Continua, 2026</a:t>
            </a:r>
            <a:endParaRPr lang="en-US" sz="1200" dirty="0"/>
          </a:p>
        </p:txBody>
      </p:sp>
      <p:sp>
        <p:nvSpPr>
          <p:cNvPr id="21" name="Text 19"/>
          <p:cNvSpPr/>
          <p:nvPr/>
        </p:nvSpPr>
        <p:spPr>
          <a:xfrm>
            <a:off x="7981950" y="4546005"/>
            <a:ext cx="351878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Combining hashes and signatures, kept as a future extension</a:t>
            </a:r>
            <a:endParaRPr lang="en-US" sz="1200" dirty="0"/>
          </a:p>
        </p:txBody>
      </p:sp>
      <p:sp>
        <p:nvSpPr>
          <p:cNvPr id="22" name="Shape 20"/>
          <p:cNvSpPr/>
          <p:nvPr/>
        </p:nvSpPr>
        <p:spPr>
          <a:xfrm>
            <a:off x="612775" y="5281811"/>
            <a:ext cx="10966450" cy="905272"/>
          </a:xfrm>
          <a:prstGeom prst="roundRect">
            <a:avLst>
              <a:gd name="adj" fmla="val 10872"/>
            </a:avLst>
          </a:prstGeom>
          <a:solidFill>
            <a:srgbClr val="FFFFFF"/>
          </a:solidFill>
          <a:ln w="6350">
            <a:solidFill>
              <a:srgbClr val="E3DDCF"/>
            </a:solidFill>
            <a:prstDash val="solid"/>
          </a:ln>
        </p:spPr>
      </p:sp>
      <p:sp>
        <p:nvSpPr>
          <p:cNvPr id="23" name="Text 21"/>
          <p:cNvSpPr/>
          <p:nvPr/>
        </p:nvSpPr>
        <p:spPr>
          <a:xfrm>
            <a:off x="793750" y="5536406"/>
            <a:ext cx="4398486"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7"/>
                </a:solidFill>
                <a:latin typeface="Inter" pitchFamily="34" charset="0"/>
                <a:ea typeface="Inter" pitchFamily="34" charset="-122"/>
                <a:cs typeface="Inter" pitchFamily="34" charset="-120"/>
              </a:rPr>
              <a:t>Integrated Protocol for Verifiable Confidential Cloud Computing and Data Integrity Auditing</a:t>
            </a:r>
            <a:endParaRPr lang="en-US" sz="1200" dirty="0"/>
          </a:p>
        </p:txBody>
      </p:sp>
      <p:sp>
        <p:nvSpPr>
          <p:cNvPr id="24" name="Text 22"/>
          <p:cNvSpPr/>
          <p:nvPr/>
        </p:nvSpPr>
        <p:spPr>
          <a:xfrm>
            <a:off x="5241925" y="5437386"/>
            <a:ext cx="2639092"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R. Li et al., Journal of King Saud University Computer and Information Sciences, 2025</a:t>
            </a:r>
            <a:endParaRPr lang="en-US" sz="1200" dirty="0"/>
          </a:p>
        </p:txBody>
      </p:sp>
      <p:sp>
        <p:nvSpPr>
          <p:cNvPr id="25" name="Text 23"/>
          <p:cNvSpPr/>
          <p:nvPr/>
        </p:nvSpPr>
        <p:spPr>
          <a:xfrm>
            <a:off x="7981950" y="5536406"/>
            <a:ext cx="351878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74151"/>
                </a:solidFill>
                <a:latin typeface="Inter" pitchFamily="34" charset="0"/>
                <a:ea typeface="Inter" pitchFamily="34" charset="-122"/>
                <a:cs typeface="Inter" pitchFamily="34" charset="-120"/>
              </a:rPr>
              <a:t>A direction for adding confidentiality and privacy later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p:nvPr>
            <p:ph type="title"/>
          </p:nvPr>
        </p:nvSpPr>
        <p:spPr>
          <a:xfrm>
            <a:off x="609600" y="508000"/>
            <a:ext cx="1130198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37"/>
                </a:solidFill>
                <a:latin typeface="Inter" pitchFamily="34" charset="0"/>
                <a:ea typeface="Inter" pitchFamily="34" charset="-122"/>
                <a:cs typeface="Inter" pitchFamily="34" charset="-120"/>
              </a:rPr>
              <a:t>Implementation Stages and Tools</a:t>
            </a:r>
            <a:endParaRPr lang="en-US" sz="3000" dirty="0"/>
          </a:p>
        </p:txBody>
      </p:sp>
      <p:sp>
        <p:nvSpPr>
          <p:cNvPr id="3" name="Shape 1"/>
          <p:cNvSpPr/>
          <p:nvPr/>
        </p:nvSpPr>
        <p:spPr>
          <a:xfrm>
            <a:off x="612775" y="1127125"/>
            <a:ext cx="3566517" cy="1067891"/>
          </a:xfrm>
          <a:prstGeom prst="roundRect">
            <a:avLst>
              <a:gd name="adj" fmla="val 9217"/>
            </a:avLst>
          </a:prstGeom>
          <a:solidFill>
            <a:srgbClr val="FFFFFF"/>
          </a:solidFill>
          <a:ln w="6350">
            <a:solidFill>
              <a:srgbClr val="E3DDCF"/>
            </a:solidFill>
            <a:prstDash val="solid"/>
          </a:ln>
        </p:spPr>
      </p:sp>
      <p:sp>
        <p:nvSpPr>
          <p:cNvPr id="4" name="Text 2"/>
          <p:cNvSpPr/>
          <p:nvPr/>
        </p:nvSpPr>
        <p:spPr>
          <a:xfrm>
            <a:off x="793750" y="1282700"/>
            <a:ext cx="33007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1. Environment</a:t>
            </a:r>
            <a:endParaRPr lang="en-US" sz="1600" dirty="0"/>
          </a:p>
        </p:txBody>
      </p:sp>
      <p:sp>
        <p:nvSpPr>
          <p:cNvPr id="5" name="Text 3"/>
          <p:cNvSpPr/>
          <p:nvPr/>
        </p:nvSpPr>
        <p:spPr>
          <a:xfrm>
            <a:off x="793750" y="1577280"/>
            <a:ext cx="33007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nter" pitchFamily="34" charset="0"/>
                <a:ea typeface="Inter" pitchFamily="34" charset="-122"/>
                <a:cs typeface="Inter" pitchFamily="34" charset="-120"/>
              </a:rPr>
              <a:t>Virtual lab, server, and Wazuh installation</a:t>
            </a:r>
            <a:endParaRPr lang="en-US" sz="1300" dirty="0"/>
          </a:p>
        </p:txBody>
      </p:sp>
      <p:sp>
        <p:nvSpPr>
          <p:cNvPr id="6" name="Shape 4"/>
          <p:cNvSpPr/>
          <p:nvPr/>
        </p:nvSpPr>
        <p:spPr>
          <a:xfrm>
            <a:off x="4312642" y="1127125"/>
            <a:ext cx="3566616" cy="1067891"/>
          </a:xfrm>
          <a:prstGeom prst="roundRect">
            <a:avLst>
              <a:gd name="adj" fmla="val 9217"/>
            </a:avLst>
          </a:prstGeom>
          <a:solidFill>
            <a:srgbClr val="FFFFFF"/>
          </a:solidFill>
          <a:ln w="6350">
            <a:solidFill>
              <a:srgbClr val="E3DDCF"/>
            </a:solidFill>
            <a:prstDash val="solid"/>
          </a:ln>
        </p:spPr>
      </p:sp>
      <p:sp>
        <p:nvSpPr>
          <p:cNvPr id="7" name="Text 5"/>
          <p:cNvSpPr/>
          <p:nvPr/>
        </p:nvSpPr>
        <p:spPr>
          <a:xfrm>
            <a:off x="4493617" y="1282700"/>
            <a:ext cx="33008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2. Core framework</a:t>
            </a:r>
            <a:endParaRPr lang="en-US" sz="1600" dirty="0"/>
          </a:p>
        </p:txBody>
      </p:sp>
      <p:sp>
        <p:nvSpPr>
          <p:cNvPr id="8" name="Text 6"/>
          <p:cNvSpPr/>
          <p:nvPr/>
        </p:nvSpPr>
        <p:spPr>
          <a:xfrm>
            <a:off x="4493617" y="1577280"/>
            <a:ext cx="330080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nter" pitchFamily="34" charset="0"/>
                <a:ea typeface="Inter" pitchFamily="34" charset="-122"/>
                <a:cs typeface="Inter" pitchFamily="34" charset="-120"/>
              </a:rPr>
              <a:t>Hash, sign, secure upload, evidence, verification</a:t>
            </a:r>
            <a:endParaRPr lang="en-US" sz="1300" dirty="0"/>
          </a:p>
        </p:txBody>
      </p:sp>
      <p:sp>
        <p:nvSpPr>
          <p:cNvPr id="9" name="Shape 7"/>
          <p:cNvSpPr/>
          <p:nvPr/>
        </p:nvSpPr>
        <p:spPr>
          <a:xfrm>
            <a:off x="8012609" y="1127125"/>
            <a:ext cx="3566517" cy="1067891"/>
          </a:xfrm>
          <a:prstGeom prst="roundRect">
            <a:avLst>
              <a:gd name="adj" fmla="val 9217"/>
            </a:avLst>
          </a:prstGeom>
          <a:solidFill>
            <a:srgbClr val="FFFFFF"/>
          </a:solidFill>
          <a:ln w="6350">
            <a:solidFill>
              <a:srgbClr val="E3DDCF"/>
            </a:solidFill>
            <a:prstDash val="solid"/>
          </a:ln>
        </p:spPr>
      </p:sp>
      <p:sp>
        <p:nvSpPr>
          <p:cNvPr id="10" name="Text 8"/>
          <p:cNvSpPr/>
          <p:nvPr/>
        </p:nvSpPr>
        <p:spPr>
          <a:xfrm>
            <a:off x="8193584" y="1282700"/>
            <a:ext cx="33007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3. Authentication</a:t>
            </a:r>
            <a:endParaRPr lang="en-US" sz="1600" dirty="0"/>
          </a:p>
        </p:txBody>
      </p:sp>
      <p:sp>
        <p:nvSpPr>
          <p:cNvPr id="11" name="Text 9"/>
          <p:cNvSpPr/>
          <p:nvPr/>
        </p:nvSpPr>
        <p:spPr>
          <a:xfrm>
            <a:off x="8193584" y="1577280"/>
            <a:ext cx="330070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nter" pitchFamily="34" charset="0"/>
                <a:ea typeface="Inter" pitchFamily="34" charset="-122"/>
                <a:cs typeface="Inter" pitchFamily="34" charset="-120"/>
              </a:rPr>
              <a:t>User login and account management</a:t>
            </a:r>
            <a:endParaRPr lang="en-US" sz="1300" dirty="0"/>
          </a:p>
        </p:txBody>
      </p:sp>
      <p:sp>
        <p:nvSpPr>
          <p:cNvPr id="12" name="Shape 10"/>
          <p:cNvSpPr/>
          <p:nvPr/>
        </p:nvSpPr>
        <p:spPr>
          <a:xfrm>
            <a:off x="612775" y="2328366"/>
            <a:ext cx="3566517" cy="1067891"/>
          </a:xfrm>
          <a:prstGeom prst="roundRect">
            <a:avLst>
              <a:gd name="adj" fmla="val 9217"/>
            </a:avLst>
          </a:prstGeom>
          <a:solidFill>
            <a:srgbClr val="FFFFFF"/>
          </a:solidFill>
          <a:ln w="6350">
            <a:solidFill>
              <a:srgbClr val="E3DDCF"/>
            </a:solidFill>
            <a:prstDash val="solid"/>
          </a:ln>
        </p:spPr>
      </p:sp>
      <p:sp>
        <p:nvSpPr>
          <p:cNvPr id="13" name="Text 11"/>
          <p:cNvSpPr/>
          <p:nvPr/>
        </p:nvSpPr>
        <p:spPr>
          <a:xfrm>
            <a:off x="793750" y="2483941"/>
            <a:ext cx="33007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4. CDAP protocol</a:t>
            </a:r>
            <a:endParaRPr lang="en-US" sz="1600" dirty="0"/>
          </a:p>
        </p:txBody>
      </p:sp>
      <p:sp>
        <p:nvSpPr>
          <p:cNvPr id="14" name="Text 12"/>
          <p:cNvSpPr/>
          <p:nvPr/>
        </p:nvSpPr>
        <p:spPr>
          <a:xfrm>
            <a:off x="793750" y="2778522"/>
            <a:ext cx="33007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nter" pitchFamily="34" charset="0"/>
                <a:ea typeface="Inter" pitchFamily="34" charset="-122"/>
                <a:cs typeface="Inter" pitchFamily="34" charset="-120"/>
              </a:rPr>
              <a:t>Create delegation, delegated upload, revocation</a:t>
            </a:r>
            <a:endParaRPr lang="en-US" sz="1300" dirty="0"/>
          </a:p>
        </p:txBody>
      </p:sp>
      <p:sp>
        <p:nvSpPr>
          <p:cNvPr id="15" name="Shape 13"/>
          <p:cNvSpPr/>
          <p:nvPr/>
        </p:nvSpPr>
        <p:spPr>
          <a:xfrm>
            <a:off x="4312642" y="2328366"/>
            <a:ext cx="3566616" cy="1067891"/>
          </a:xfrm>
          <a:prstGeom prst="roundRect">
            <a:avLst>
              <a:gd name="adj" fmla="val 9217"/>
            </a:avLst>
          </a:prstGeom>
          <a:solidFill>
            <a:srgbClr val="FFFFFF"/>
          </a:solidFill>
          <a:ln w="6350">
            <a:solidFill>
              <a:srgbClr val="E3DDCF"/>
            </a:solidFill>
            <a:prstDash val="solid"/>
          </a:ln>
        </p:spPr>
      </p:sp>
      <p:sp>
        <p:nvSpPr>
          <p:cNvPr id="16" name="Text 14"/>
          <p:cNvSpPr/>
          <p:nvPr/>
        </p:nvSpPr>
        <p:spPr>
          <a:xfrm>
            <a:off x="4493617" y="2483941"/>
            <a:ext cx="33008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5. SIEM integration</a:t>
            </a:r>
            <a:endParaRPr lang="en-US" sz="1600" dirty="0"/>
          </a:p>
        </p:txBody>
      </p:sp>
      <p:sp>
        <p:nvSpPr>
          <p:cNvPr id="17" name="Text 15"/>
          <p:cNvSpPr/>
          <p:nvPr/>
        </p:nvSpPr>
        <p:spPr>
          <a:xfrm>
            <a:off x="4493617" y="2778522"/>
            <a:ext cx="330080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nter" pitchFamily="34" charset="0"/>
                <a:ea typeface="Inter" pitchFamily="34" charset="-122"/>
                <a:cs typeface="Inter" pitchFamily="34" charset="-120"/>
              </a:rPr>
              <a:t>Delegation events sent to Wazuh with alerts</a:t>
            </a:r>
            <a:endParaRPr lang="en-US" sz="1300" dirty="0"/>
          </a:p>
        </p:txBody>
      </p:sp>
      <p:sp>
        <p:nvSpPr>
          <p:cNvPr id="18" name="Shape 16"/>
          <p:cNvSpPr/>
          <p:nvPr/>
        </p:nvSpPr>
        <p:spPr>
          <a:xfrm>
            <a:off x="8012609" y="2328366"/>
            <a:ext cx="3566517" cy="1067891"/>
          </a:xfrm>
          <a:prstGeom prst="roundRect">
            <a:avLst>
              <a:gd name="adj" fmla="val 9217"/>
            </a:avLst>
          </a:prstGeom>
          <a:solidFill>
            <a:srgbClr val="FFFFFF"/>
          </a:solidFill>
          <a:ln w="6350">
            <a:solidFill>
              <a:srgbClr val="E3DDCF"/>
            </a:solidFill>
            <a:prstDash val="solid"/>
          </a:ln>
        </p:spPr>
      </p:sp>
      <p:sp>
        <p:nvSpPr>
          <p:cNvPr id="19" name="Text 17"/>
          <p:cNvSpPr/>
          <p:nvPr/>
        </p:nvSpPr>
        <p:spPr>
          <a:xfrm>
            <a:off x="8193584" y="2483941"/>
            <a:ext cx="33007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6. Evaluation</a:t>
            </a:r>
            <a:endParaRPr lang="en-US" sz="1600" dirty="0"/>
          </a:p>
        </p:txBody>
      </p:sp>
      <p:sp>
        <p:nvSpPr>
          <p:cNvPr id="20" name="Text 18"/>
          <p:cNvSpPr/>
          <p:nvPr/>
        </p:nvSpPr>
        <p:spPr>
          <a:xfrm>
            <a:off x="8193584" y="2778522"/>
            <a:ext cx="330070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nter" pitchFamily="34" charset="0"/>
                <a:ea typeface="Inter" pitchFamily="34" charset="-122"/>
                <a:cs typeface="Inter" pitchFamily="34" charset="-120"/>
              </a:rPr>
              <a:t>Attack tests and comparison with traditional storage</a:t>
            </a:r>
            <a:endParaRPr lang="en-US" sz="1300" dirty="0"/>
          </a:p>
        </p:txBody>
      </p:sp>
      <p:sp>
        <p:nvSpPr>
          <p:cNvPr id="21" name="Text 19"/>
          <p:cNvSpPr/>
          <p:nvPr/>
        </p:nvSpPr>
        <p:spPr>
          <a:xfrm>
            <a:off x="609600" y="3577233"/>
            <a:ext cx="1130198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Tools</a:t>
            </a:r>
            <a:endParaRPr lang="en-US" sz="1600" dirty="0"/>
          </a:p>
        </p:txBody>
      </p:sp>
      <p:sp>
        <p:nvSpPr>
          <p:cNvPr id="22" name="Shape 20"/>
          <p:cNvSpPr/>
          <p:nvPr/>
        </p:nvSpPr>
        <p:spPr>
          <a:xfrm>
            <a:off x="612775" y="4001988"/>
            <a:ext cx="2106910" cy="730151"/>
          </a:xfrm>
          <a:prstGeom prst="roundRect">
            <a:avLst>
              <a:gd name="adj" fmla="val 13480"/>
            </a:avLst>
          </a:prstGeom>
          <a:solidFill>
            <a:srgbClr val="FAF8F3"/>
          </a:solidFill>
          <a:ln w="6350">
            <a:solidFill>
              <a:srgbClr val="E3DDCF"/>
            </a:solidFill>
            <a:prstDash val="solid"/>
          </a:ln>
        </p:spPr>
      </p:sp>
      <p:sp>
        <p:nvSpPr>
          <p:cNvPr id="23" name="Text 21"/>
          <p:cNvSpPr/>
          <p:nvPr/>
        </p:nvSpPr>
        <p:spPr>
          <a:xfrm>
            <a:off x="742950" y="4119463"/>
            <a:ext cx="19019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nter" pitchFamily="34" charset="0"/>
                <a:ea typeface="Inter" pitchFamily="34" charset="-122"/>
                <a:cs typeface="Inter" pitchFamily="34" charset="-120"/>
              </a:rPr>
              <a:t>VMware Workstation</a:t>
            </a:r>
            <a:endParaRPr lang="en-US" sz="1300" dirty="0"/>
          </a:p>
        </p:txBody>
      </p:sp>
      <p:sp>
        <p:nvSpPr>
          <p:cNvPr id="24" name="Text 22"/>
          <p:cNvSpPr/>
          <p:nvPr/>
        </p:nvSpPr>
        <p:spPr>
          <a:xfrm>
            <a:off x="742950" y="4401344"/>
            <a:ext cx="1901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Virtual lab</a:t>
            </a:r>
            <a:endParaRPr lang="en-US" sz="1200" dirty="0"/>
          </a:p>
        </p:txBody>
      </p:sp>
      <p:sp>
        <p:nvSpPr>
          <p:cNvPr id="25" name="Shape 23"/>
          <p:cNvSpPr/>
          <p:nvPr/>
        </p:nvSpPr>
        <p:spPr>
          <a:xfrm>
            <a:off x="2827635" y="4001988"/>
            <a:ext cx="2106910" cy="730151"/>
          </a:xfrm>
          <a:prstGeom prst="roundRect">
            <a:avLst>
              <a:gd name="adj" fmla="val 13480"/>
            </a:avLst>
          </a:prstGeom>
          <a:solidFill>
            <a:srgbClr val="FAF8F3"/>
          </a:solidFill>
          <a:ln w="6350">
            <a:solidFill>
              <a:srgbClr val="E3DDCF"/>
            </a:solidFill>
            <a:prstDash val="solid"/>
          </a:ln>
        </p:spPr>
      </p:sp>
      <p:sp>
        <p:nvSpPr>
          <p:cNvPr id="26" name="Text 24"/>
          <p:cNvSpPr/>
          <p:nvPr/>
        </p:nvSpPr>
        <p:spPr>
          <a:xfrm>
            <a:off x="2957810" y="4119463"/>
            <a:ext cx="19019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nter" pitchFamily="34" charset="0"/>
                <a:ea typeface="Inter" pitchFamily="34" charset="-122"/>
                <a:cs typeface="Inter" pitchFamily="34" charset="-120"/>
              </a:rPr>
              <a:t>Ubuntu Server</a:t>
            </a:r>
            <a:endParaRPr lang="en-US" sz="1300" dirty="0"/>
          </a:p>
        </p:txBody>
      </p:sp>
      <p:sp>
        <p:nvSpPr>
          <p:cNvPr id="27" name="Text 25"/>
          <p:cNvSpPr/>
          <p:nvPr/>
        </p:nvSpPr>
        <p:spPr>
          <a:xfrm>
            <a:off x="2957810" y="4401344"/>
            <a:ext cx="1901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Server OS</a:t>
            </a:r>
            <a:endParaRPr lang="en-US" sz="1200" dirty="0"/>
          </a:p>
        </p:txBody>
      </p:sp>
      <p:sp>
        <p:nvSpPr>
          <p:cNvPr id="28" name="Shape 26"/>
          <p:cNvSpPr/>
          <p:nvPr/>
        </p:nvSpPr>
        <p:spPr>
          <a:xfrm>
            <a:off x="5042495" y="4001988"/>
            <a:ext cx="2106910" cy="730151"/>
          </a:xfrm>
          <a:prstGeom prst="roundRect">
            <a:avLst>
              <a:gd name="adj" fmla="val 13480"/>
            </a:avLst>
          </a:prstGeom>
          <a:solidFill>
            <a:srgbClr val="FAF8F3"/>
          </a:solidFill>
          <a:ln w="6350">
            <a:solidFill>
              <a:srgbClr val="E3DDCF"/>
            </a:solidFill>
            <a:prstDash val="solid"/>
          </a:ln>
        </p:spPr>
      </p:sp>
      <p:sp>
        <p:nvSpPr>
          <p:cNvPr id="29" name="Text 27"/>
          <p:cNvSpPr/>
          <p:nvPr/>
        </p:nvSpPr>
        <p:spPr>
          <a:xfrm>
            <a:off x="5172670" y="4119463"/>
            <a:ext cx="19019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nter" pitchFamily="34" charset="0"/>
                <a:ea typeface="Inter" pitchFamily="34" charset="-122"/>
                <a:cs typeface="Inter" pitchFamily="34" charset="-120"/>
              </a:rPr>
              <a:t>Nextcloud</a:t>
            </a:r>
            <a:endParaRPr lang="en-US" sz="1300" dirty="0"/>
          </a:p>
        </p:txBody>
      </p:sp>
      <p:sp>
        <p:nvSpPr>
          <p:cNvPr id="30" name="Text 28"/>
          <p:cNvSpPr/>
          <p:nvPr/>
        </p:nvSpPr>
        <p:spPr>
          <a:xfrm>
            <a:off x="5172670" y="4401344"/>
            <a:ext cx="1901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Cloud storage</a:t>
            </a:r>
            <a:endParaRPr lang="en-US" sz="1200" dirty="0"/>
          </a:p>
        </p:txBody>
      </p:sp>
      <p:sp>
        <p:nvSpPr>
          <p:cNvPr id="31" name="Shape 29"/>
          <p:cNvSpPr/>
          <p:nvPr/>
        </p:nvSpPr>
        <p:spPr>
          <a:xfrm>
            <a:off x="7257355" y="4001988"/>
            <a:ext cx="2106910" cy="730151"/>
          </a:xfrm>
          <a:prstGeom prst="roundRect">
            <a:avLst>
              <a:gd name="adj" fmla="val 13480"/>
            </a:avLst>
          </a:prstGeom>
          <a:solidFill>
            <a:srgbClr val="FAF8F3"/>
          </a:solidFill>
          <a:ln w="6350">
            <a:solidFill>
              <a:srgbClr val="E3DDCF"/>
            </a:solidFill>
            <a:prstDash val="solid"/>
          </a:ln>
        </p:spPr>
      </p:sp>
      <p:sp>
        <p:nvSpPr>
          <p:cNvPr id="32" name="Text 30"/>
          <p:cNvSpPr/>
          <p:nvPr/>
        </p:nvSpPr>
        <p:spPr>
          <a:xfrm>
            <a:off x="7387530" y="4119463"/>
            <a:ext cx="19019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nter" pitchFamily="34" charset="0"/>
                <a:ea typeface="Inter" pitchFamily="34" charset="-122"/>
                <a:cs typeface="Inter" pitchFamily="34" charset="-120"/>
              </a:rPr>
              <a:t>OpenSSL</a:t>
            </a:r>
            <a:endParaRPr lang="en-US" sz="1300" dirty="0"/>
          </a:p>
        </p:txBody>
      </p:sp>
      <p:sp>
        <p:nvSpPr>
          <p:cNvPr id="33" name="Text 31"/>
          <p:cNvSpPr/>
          <p:nvPr/>
        </p:nvSpPr>
        <p:spPr>
          <a:xfrm>
            <a:off x="7387530" y="4401344"/>
            <a:ext cx="1901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RSA, SHA-256</a:t>
            </a:r>
            <a:endParaRPr lang="en-US" sz="1200" dirty="0"/>
          </a:p>
        </p:txBody>
      </p:sp>
      <p:sp>
        <p:nvSpPr>
          <p:cNvPr id="34" name="Shape 32"/>
          <p:cNvSpPr/>
          <p:nvPr/>
        </p:nvSpPr>
        <p:spPr>
          <a:xfrm>
            <a:off x="9472216" y="4001988"/>
            <a:ext cx="2107009" cy="730151"/>
          </a:xfrm>
          <a:prstGeom prst="roundRect">
            <a:avLst>
              <a:gd name="adj" fmla="val 13480"/>
            </a:avLst>
          </a:prstGeom>
          <a:solidFill>
            <a:srgbClr val="FAF8F3"/>
          </a:solidFill>
          <a:ln w="6350">
            <a:solidFill>
              <a:srgbClr val="E3DDCF"/>
            </a:solidFill>
            <a:prstDash val="solid"/>
          </a:ln>
        </p:spPr>
      </p:sp>
      <p:sp>
        <p:nvSpPr>
          <p:cNvPr id="35" name="Text 33"/>
          <p:cNvSpPr/>
          <p:nvPr/>
        </p:nvSpPr>
        <p:spPr>
          <a:xfrm>
            <a:off x="9602391" y="4119463"/>
            <a:ext cx="19020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nter" pitchFamily="34" charset="0"/>
                <a:ea typeface="Inter" pitchFamily="34" charset="-122"/>
                <a:cs typeface="Inter" pitchFamily="34" charset="-120"/>
              </a:rPr>
              <a:t>Wazuh SIEM</a:t>
            </a:r>
            <a:endParaRPr lang="en-US" sz="1300" dirty="0"/>
          </a:p>
        </p:txBody>
      </p:sp>
      <p:sp>
        <p:nvSpPr>
          <p:cNvPr id="36" name="Text 34"/>
          <p:cNvSpPr/>
          <p:nvPr/>
        </p:nvSpPr>
        <p:spPr>
          <a:xfrm>
            <a:off x="9602391" y="4401344"/>
            <a:ext cx="19020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3"/>
                </a:solidFill>
                <a:latin typeface="Inter" pitchFamily="34" charset="0"/>
                <a:ea typeface="Inter" pitchFamily="34" charset="-122"/>
                <a:cs typeface="Inter" pitchFamily="34" charset="-120"/>
              </a:rPr>
              <a:t>Monitoring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5232400"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7"/>
                </a:solidFill>
                <a:latin typeface="Inter" pitchFamily="34" charset="0"/>
                <a:ea typeface="Inter" pitchFamily="34" charset="-122"/>
                <a:cs typeface="Inter" pitchFamily="34" charset="-120"/>
              </a:rPr>
              <a:t>Controlled Delegation Protocol (CDAP)</a:t>
            </a:r>
            <a:endParaRPr lang="en-US" sz="3200" dirty="0"/>
          </a:p>
        </p:txBody>
      </p:sp>
      <p:sp>
        <p:nvSpPr>
          <p:cNvPr id="3" name="Shape 1"/>
          <p:cNvSpPr/>
          <p:nvPr/>
        </p:nvSpPr>
        <p:spPr>
          <a:xfrm>
            <a:off x="815975" y="1839516"/>
            <a:ext cx="5073650" cy="905371"/>
          </a:xfrm>
          <a:prstGeom prst="roundRect">
            <a:avLst>
              <a:gd name="adj" fmla="val 10871"/>
            </a:avLst>
          </a:prstGeom>
          <a:solidFill>
            <a:srgbClr val="FAF8F3"/>
          </a:solidFill>
          <a:ln w="6350">
            <a:solidFill>
              <a:srgbClr val="E3DDCF"/>
            </a:solidFill>
            <a:prstDash val="solid"/>
          </a:ln>
        </p:spPr>
      </p:sp>
      <p:sp>
        <p:nvSpPr>
          <p:cNvPr id="4" name="Text 2"/>
          <p:cNvSpPr/>
          <p:nvPr/>
        </p:nvSpPr>
        <p:spPr>
          <a:xfrm>
            <a:off x="1022350" y="202049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Phase 1</a:t>
            </a:r>
            <a:endParaRPr lang="en-US" sz="1600" dirty="0"/>
          </a:p>
        </p:txBody>
      </p:sp>
      <p:sp>
        <p:nvSpPr>
          <p:cNvPr id="5" name="Text 3"/>
          <p:cNvSpPr/>
          <p:nvPr/>
        </p:nvSpPr>
        <p:spPr>
          <a:xfrm>
            <a:off x="1022350" y="2315071"/>
            <a:ext cx="48007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nter" pitchFamily="34" charset="0"/>
                <a:ea typeface="Inter" pitchFamily="34" charset="-122"/>
                <a:cs typeface="Inter" pitchFamily="34" charset="-120"/>
              </a:rPr>
              <a:t>The owner signs and registers a limited delegation</a:t>
            </a:r>
            <a:endParaRPr lang="en-US" sz="1400" dirty="0"/>
          </a:p>
        </p:txBody>
      </p:sp>
      <p:sp>
        <p:nvSpPr>
          <p:cNvPr id="6" name="Shape 4"/>
          <p:cNvSpPr/>
          <p:nvPr/>
        </p:nvSpPr>
        <p:spPr>
          <a:xfrm>
            <a:off x="815975" y="2954437"/>
            <a:ext cx="5073650" cy="1154212"/>
          </a:xfrm>
          <a:prstGeom prst="roundRect">
            <a:avLst>
              <a:gd name="adj" fmla="val 8527"/>
            </a:avLst>
          </a:prstGeom>
          <a:solidFill>
            <a:srgbClr val="FAF8F3"/>
          </a:solidFill>
          <a:ln w="6350">
            <a:solidFill>
              <a:srgbClr val="E3DDCF"/>
            </a:solidFill>
            <a:prstDash val="solid"/>
          </a:ln>
        </p:spPr>
      </p:sp>
      <p:sp>
        <p:nvSpPr>
          <p:cNvPr id="7" name="Text 5"/>
          <p:cNvSpPr/>
          <p:nvPr/>
        </p:nvSpPr>
        <p:spPr>
          <a:xfrm>
            <a:off x="1022350" y="3135412"/>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8F84"/>
                </a:solidFill>
                <a:latin typeface="Inter" pitchFamily="34" charset="0"/>
                <a:ea typeface="Inter" pitchFamily="34" charset="-122"/>
                <a:cs typeface="Inter" pitchFamily="34" charset="-120"/>
              </a:rPr>
              <a:t>Phase 2</a:t>
            </a:r>
            <a:endParaRPr lang="en-US" sz="1600" dirty="0"/>
          </a:p>
        </p:txBody>
      </p:sp>
      <p:sp>
        <p:nvSpPr>
          <p:cNvPr id="8" name="Text 6"/>
          <p:cNvSpPr/>
          <p:nvPr/>
        </p:nvSpPr>
        <p:spPr>
          <a:xfrm>
            <a:off x="1022350" y="3429992"/>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nter" pitchFamily="34" charset="0"/>
                <a:ea typeface="Inter" pitchFamily="34" charset="-122"/>
                <a:cs typeface="Inter" pitchFamily="34" charset="-120"/>
              </a:rPr>
              <a:t>The delegate uploads using a short-lived permit, then SHA-256 verifies the file</a:t>
            </a:r>
            <a:endParaRPr lang="en-US" sz="1400" dirty="0"/>
          </a:p>
        </p:txBody>
      </p:sp>
      <p:sp>
        <p:nvSpPr>
          <p:cNvPr id="9" name="Text 7"/>
          <p:cNvSpPr/>
          <p:nvPr/>
        </p:nvSpPr>
        <p:spPr>
          <a:xfrm>
            <a:off x="812800" y="4315023"/>
            <a:ext cx="52324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3"/>
                </a:solidFill>
                <a:latin typeface="Inter" pitchFamily="34" charset="0"/>
                <a:ea typeface="Inter" pitchFamily="34" charset="-122"/>
                <a:cs typeface="Inter" pitchFamily="34" charset="-120"/>
              </a:rPr>
              <a:t>Every rejection and integrity failure is logged to Wazuh.</a:t>
            </a:r>
            <a:endParaRPr lang="en-US" sz="1300" dirty="0"/>
          </a:p>
        </p:txBody>
      </p:sp>
      <p:sp>
        <p:nvSpPr>
          <p:cNvPr id="10" name="Shape 8"/>
          <p:cNvSpPr/>
          <p:nvPr/>
        </p:nvSpPr>
        <p:spPr>
          <a:xfrm>
            <a:off x="6965950" y="571500"/>
            <a:ext cx="4413250" cy="5715000"/>
          </a:xfrm>
          <a:prstGeom prst="roundRect">
            <a:avLst>
              <a:gd name="adj" fmla="val 2302"/>
            </a:avLst>
          </a:prstGeom>
          <a:solidFill>
            <a:srgbClr val="FAF8F3"/>
          </a:solidFill>
          <a:ln/>
        </p:spPr>
      </p:sp>
      <p:pic>
        <p:nvPicPr>
          <p:cNvPr id="11" name="Image 0" descr="CDAP workflow showing both phases and rejection paths">    </p:cNvPr>
          <p:cNvPicPr>
            <a:picLocks noChangeAspect="1"/>
          </p:cNvPicPr>
          <p:nvPr/>
        </p:nvPicPr>
        <p:blipFill>
          <a:blip r:embed="rId1"/>
          <a:srcRect l="0" r="0" t="-10" b="-10"/>
          <a:stretch/>
        </p:blipFill>
        <p:spPr>
          <a:xfrm>
            <a:off x="6972300" y="577850"/>
            <a:ext cx="4400550" cy="5702300"/>
          </a:xfrm>
          <a:prstGeom prst="roundRect">
            <a:avLst>
              <a:gd name="adj" fmla="val 2165"/>
            </a:avLst>
          </a:prstGeom>
        </p:spPr>
      </p:pic>
      <p:sp>
        <p:nvSpPr>
          <p:cNvPr id="12" name="Shape 9"/>
          <p:cNvSpPr/>
          <p:nvPr/>
        </p:nvSpPr>
        <p:spPr>
          <a:xfrm>
            <a:off x="6969125" y="574675"/>
            <a:ext cx="4406900" cy="5708650"/>
          </a:xfrm>
          <a:prstGeom prst="roundRect">
            <a:avLst>
              <a:gd name="adj" fmla="val 2233"/>
            </a:avLst>
          </a:prstGeom>
          <a:noFill/>
          <a:ln w="6350">
            <a:solidFill>
              <a:srgbClr val="E3DDC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4185920" cy="1377851"/>
          </a:xfrm>
          <a:prstGeom prst="rect">
            <a:avLst/>
          </a:prstGeom>
          <a:noFill/>
          <a:ln/>
        </p:spPr>
        <p:txBody>
          <a:bodyPr wrap="square" lIns="0" tIns="0" rIns="0" bIns="0" rtlCol="0" anchor="t">
            <a:normAutofit/>
          </a:bodyPr>
          <a:lstStyle/>
          <a:p>
            <a:pPr algn="l" indent="0" marL="0">
              <a:lnSpc>
                <a:spcPts val="3553"/>
              </a:lnSpc>
              <a:buNone/>
            </a:pPr>
            <a:r>
              <a:rPr lang="en-US" sz="3090" b="1" i="0" dirty="0">
                <a:solidFill>
                  <a:srgbClr val="1F2A37"/>
                </a:solidFill>
                <a:latin typeface="Inter" pitchFamily="34" charset="0"/>
                <a:ea typeface="Inter" pitchFamily="34" charset="-122"/>
                <a:cs typeface="Inter" pitchFamily="34" charset="-120"/>
              </a:rPr>
              <a:t>CDAP Phase One: Creating a Delegation</a:t>
            </a:r>
            <a:endParaRPr lang="en-US" sz="3090" dirty="0"/>
          </a:p>
        </p:txBody>
      </p:sp>
      <p:sp>
        <p:nvSpPr>
          <p:cNvPr id="3" name="Shape 1"/>
          <p:cNvSpPr/>
          <p:nvPr/>
        </p:nvSpPr>
        <p:spPr>
          <a:xfrm>
            <a:off x="815975" y="2244626"/>
            <a:ext cx="4057650" cy="1109166"/>
          </a:xfrm>
          <a:prstGeom prst="roundRect">
            <a:avLst>
              <a:gd name="adj" fmla="val 8874"/>
            </a:avLst>
          </a:prstGeom>
          <a:solidFill>
            <a:srgbClr val="FFFFFF"/>
          </a:solidFill>
          <a:ln w="6350">
            <a:solidFill>
              <a:srgbClr val="E3DDCF"/>
            </a:solidFill>
            <a:prstDash val="solid"/>
          </a:ln>
        </p:spPr>
      </p:sp>
      <p:sp>
        <p:nvSpPr>
          <p:cNvPr id="4" name="Text 2"/>
          <p:cNvSpPr/>
          <p:nvPr/>
        </p:nvSpPr>
        <p:spPr>
          <a:xfrm>
            <a:off x="1022350" y="2425601"/>
            <a:ext cx="3754247" cy="259953"/>
          </a:xfrm>
          <a:prstGeom prst="rect">
            <a:avLst/>
          </a:prstGeom>
          <a:noFill/>
          <a:ln/>
        </p:spPr>
        <p:txBody>
          <a:bodyPr wrap="square" lIns="0" tIns="0" rIns="0" bIns="0" rtlCol="0" anchor="t">
            <a:normAutofit/>
          </a:bodyPr>
          <a:lstStyle/>
          <a:p>
            <a:pPr algn="l" indent="0" marL="0">
              <a:lnSpc>
                <a:spcPts val="1872"/>
              </a:lnSpc>
              <a:buNone/>
            </a:pPr>
            <a:r>
              <a:rPr lang="en-US" sz="1560" b="1" dirty="0">
                <a:solidFill>
                  <a:srgbClr val="1F8F84"/>
                </a:solidFill>
                <a:latin typeface="Inter" pitchFamily="34" charset="0"/>
                <a:ea typeface="Inter" pitchFamily="34" charset="-122"/>
                <a:cs typeface="Inter" pitchFamily="34" charset="-120"/>
              </a:rPr>
              <a:t>1. Request</a:t>
            </a:r>
            <a:endParaRPr lang="en-US" sz="1560" dirty="0"/>
          </a:p>
        </p:txBody>
      </p:sp>
      <p:sp>
        <p:nvSpPr>
          <p:cNvPr id="5" name="Text 3"/>
          <p:cNvSpPr/>
          <p:nvPr/>
        </p:nvSpPr>
        <p:spPr>
          <a:xfrm>
            <a:off x="1022350" y="2710954"/>
            <a:ext cx="3754247" cy="487263"/>
          </a:xfrm>
          <a:prstGeom prst="rect">
            <a:avLst/>
          </a:prstGeom>
          <a:noFill/>
          <a:ln/>
        </p:spPr>
        <p:txBody>
          <a:bodyPr wrap="square" lIns="0" tIns="0" rIns="0" bIns="0" rtlCol="0" anchor="t">
            <a:normAutofit/>
          </a:bodyPr>
          <a:lstStyle/>
          <a:p>
            <a:pPr algn="l" indent="0" marL="0">
              <a:lnSpc>
                <a:spcPts val="1837"/>
              </a:lnSpc>
              <a:buNone/>
            </a:pPr>
            <a:r>
              <a:rPr lang="en-US" sz="1312" dirty="0">
                <a:solidFill>
                  <a:srgbClr val="1F2A37"/>
                </a:solidFill>
                <a:latin typeface="Inter" pitchFamily="34" charset="0"/>
                <a:ea typeface="Inter" pitchFamily="34" charset="-122"/>
                <a:cs typeface="Inter" pitchFamily="34" charset="-120"/>
              </a:rPr>
              <a:t>Owner defines delegate, path, and validity, then signs with a private key</a:t>
            </a:r>
            <a:endParaRPr lang="en-US" sz="1312" dirty="0"/>
          </a:p>
        </p:txBody>
      </p:sp>
      <p:sp>
        <p:nvSpPr>
          <p:cNvPr id="6" name="Shape 4"/>
          <p:cNvSpPr/>
          <p:nvPr/>
        </p:nvSpPr>
        <p:spPr>
          <a:xfrm>
            <a:off x="815975" y="3550642"/>
            <a:ext cx="4057650" cy="1109166"/>
          </a:xfrm>
          <a:prstGeom prst="roundRect">
            <a:avLst>
              <a:gd name="adj" fmla="val 8874"/>
            </a:avLst>
          </a:prstGeom>
          <a:solidFill>
            <a:srgbClr val="FFFFFF"/>
          </a:solidFill>
          <a:ln w="6350">
            <a:solidFill>
              <a:srgbClr val="E3DDCF"/>
            </a:solidFill>
            <a:prstDash val="solid"/>
          </a:ln>
        </p:spPr>
      </p:sp>
      <p:sp>
        <p:nvSpPr>
          <p:cNvPr id="7" name="Text 5"/>
          <p:cNvSpPr/>
          <p:nvPr/>
        </p:nvSpPr>
        <p:spPr>
          <a:xfrm>
            <a:off x="1022350" y="3731617"/>
            <a:ext cx="3754247" cy="259953"/>
          </a:xfrm>
          <a:prstGeom prst="rect">
            <a:avLst/>
          </a:prstGeom>
          <a:noFill/>
          <a:ln/>
        </p:spPr>
        <p:txBody>
          <a:bodyPr wrap="square" lIns="0" tIns="0" rIns="0" bIns="0" rtlCol="0" anchor="t">
            <a:normAutofit/>
          </a:bodyPr>
          <a:lstStyle/>
          <a:p>
            <a:pPr algn="l" indent="0" marL="0">
              <a:lnSpc>
                <a:spcPts val="1872"/>
              </a:lnSpc>
              <a:buNone/>
            </a:pPr>
            <a:r>
              <a:rPr lang="en-US" sz="1560" b="1" dirty="0">
                <a:solidFill>
                  <a:srgbClr val="1F8F84"/>
                </a:solidFill>
                <a:latin typeface="Inter" pitchFamily="34" charset="0"/>
                <a:ea typeface="Inter" pitchFamily="34" charset="-122"/>
                <a:cs typeface="Inter" pitchFamily="34" charset="-120"/>
              </a:rPr>
              <a:t>2. Verification</a:t>
            </a:r>
            <a:endParaRPr lang="en-US" sz="1560" dirty="0"/>
          </a:p>
        </p:txBody>
      </p:sp>
      <p:sp>
        <p:nvSpPr>
          <p:cNvPr id="8" name="Text 6"/>
          <p:cNvSpPr/>
          <p:nvPr/>
        </p:nvSpPr>
        <p:spPr>
          <a:xfrm>
            <a:off x="1022350" y="4016970"/>
            <a:ext cx="3754247" cy="487263"/>
          </a:xfrm>
          <a:prstGeom prst="rect">
            <a:avLst/>
          </a:prstGeom>
          <a:noFill/>
          <a:ln/>
        </p:spPr>
        <p:txBody>
          <a:bodyPr wrap="square" lIns="0" tIns="0" rIns="0" bIns="0" rtlCol="0" anchor="t">
            <a:normAutofit/>
          </a:bodyPr>
          <a:lstStyle/>
          <a:p>
            <a:pPr algn="l" indent="0" marL="0">
              <a:lnSpc>
                <a:spcPts val="1837"/>
              </a:lnSpc>
              <a:buNone/>
            </a:pPr>
            <a:r>
              <a:rPr lang="en-US" sz="1312" dirty="0">
                <a:solidFill>
                  <a:srgbClr val="1F2A37"/>
                </a:solidFill>
                <a:latin typeface="Inter" pitchFamily="34" charset="0"/>
                <a:ea typeface="Inter" pitchFamily="34" charset="-122"/>
                <a:cs typeface="Inter" pitchFamily="34" charset="-120"/>
              </a:rPr>
              <a:t>Cloud checks signature, identity, validity, and policy</a:t>
            </a:r>
            <a:endParaRPr lang="en-US" sz="1312" dirty="0"/>
          </a:p>
        </p:txBody>
      </p:sp>
      <p:sp>
        <p:nvSpPr>
          <p:cNvPr id="9" name="Shape 7"/>
          <p:cNvSpPr/>
          <p:nvPr/>
        </p:nvSpPr>
        <p:spPr>
          <a:xfrm>
            <a:off x="815975" y="4856659"/>
            <a:ext cx="4057650" cy="1109166"/>
          </a:xfrm>
          <a:prstGeom prst="roundRect">
            <a:avLst>
              <a:gd name="adj" fmla="val 8874"/>
            </a:avLst>
          </a:prstGeom>
          <a:solidFill>
            <a:srgbClr val="FFFFFF"/>
          </a:solidFill>
          <a:ln w="6350">
            <a:solidFill>
              <a:srgbClr val="E3DDCF"/>
            </a:solidFill>
            <a:prstDash val="solid"/>
          </a:ln>
        </p:spPr>
      </p:sp>
      <p:sp>
        <p:nvSpPr>
          <p:cNvPr id="10" name="Text 8"/>
          <p:cNvSpPr/>
          <p:nvPr/>
        </p:nvSpPr>
        <p:spPr>
          <a:xfrm>
            <a:off x="1022350" y="5037634"/>
            <a:ext cx="3754247" cy="259953"/>
          </a:xfrm>
          <a:prstGeom prst="rect">
            <a:avLst/>
          </a:prstGeom>
          <a:noFill/>
          <a:ln/>
        </p:spPr>
        <p:txBody>
          <a:bodyPr wrap="square" lIns="0" tIns="0" rIns="0" bIns="0" rtlCol="0" anchor="t">
            <a:normAutofit/>
          </a:bodyPr>
          <a:lstStyle/>
          <a:p>
            <a:pPr algn="l" indent="0" marL="0">
              <a:lnSpc>
                <a:spcPts val="1872"/>
              </a:lnSpc>
              <a:buNone/>
            </a:pPr>
            <a:r>
              <a:rPr lang="en-US" sz="1560" b="1" dirty="0">
                <a:solidFill>
                  <a:srgbClr val="1F8F84"/>
                </a:solidFill>
                <a:latin typeface="Inter" pitchFamily="34" charset="0"/>
                <a:ea typeface="Inter" pitchFamily="34" charset="-122"/>
                <a:cs typeface="Inter" pitchFamily="34" charset="-120"/>
              </a:rPr>
              <a:t>3. Registration</a:t>
            </a:r>
            <a:endParaRPr lang="en-US" sz="1560" dirty="0"/>
          </a:p>
        </p:txBody>
      </p:sp>
      <p:sp>
        <p:nvSpPr>
          <p:cNvPr id="11" name="Text 9"/>
          <p:cNvSpPr/>
          <p:nvPr/>
        </p:nvSpPr>
        <p:spPr>
          <a:xfrm>
            <a:off x="1022350" y="5322987"/>
            <a:ext cx="3754247" cy="487263"/>
          </a:xfrm>
          <a:prstGeom prst="rect">
            <a:avLst/>
          </a:prstGeom>
          <a:noFill/>
          <a:ln/>
        </p:spPr>
        <p:txBody>
          <a:bodyPr wrap="square" lIns="0" tIns="0" rIns="0" bIns="0" rtlCol="0" anchor="t">
            <a:normAutofit/>
          </a:bodyPr>
          <a:lstStyle/>
          <a:p>
            <a:pPr algn="l" indent="0" marL="0">
              <a:lnSpc>
                <a:spcPts val="1837"/>
              </a:lnSpc>
              <a:buNone/>
            </a:pPr>
            <a:r>
              <a:rPr lang="en-US" sz="1312" dirty="0">
                <a:solidFill>
                  <a:srgbClr val="1F2A37"/>
                </a:solidFill>
                <a:latin typeface="Inter" pitchFamily="34" charset="0"/>
                <a:ea typeface="Inter" pitchFamily="34" charset="-122"/>
                <a:cs typeface="Inter" pitchFamily="34" charset="-120"/>
              </a:rPr>
              <a:t>Delegation is stored as ACTIVE and events go to Wazuh</a:t>
            </a:r>
            <a:endParaRPr lang="en-US" sz="1312" dirty="0"/>
          </a:p>
        </p:txBody>
      </p:sp>
      <p:sp>
        <p:nvSpPr>
          <p:cNvPr id="12" name="Shape 10"/>
          <p:cNvSpPr/>
          <p:nvPr/>
        </p:nvSpPr>
        <p:spPr>
          <a:xfrm>
            <a:off x="5353050" y="571500"/>
            <a:ext cx="6026150" cy="5715000"/>
          </a:xfrm>
          <a:prstGeom prst="roundRect">
            <a:avLst>
              <a:gd name="adj" fmla="val 1778"/>
            </a:avLst>
          </a:prstGeom>
          <a:solidFill>
            <a:srgbClr val="151515"/>
          </a:solidFill>
          <a:ln/>
        </p:spPr>
      </p:sp>
      <p:pic>
        <p:nvPicPr>
          <p:cNvPr id="13" name="Image 0" descr="Phase one: creating and registering a delegation">    </p:cNvPr>
          <p:cNvPicPr>
            <a:picLocks noChangeAspect="1"/>
          </p:cNvPicPr>
          <p:nvPr/>
        </p:nvPicPr>
        <p:blipFill>
          <a:blip r:embed="rId1"/>
          <a:srcRect l="0" r="0" t="-26" b="-26"/>
          <a:stretch/>
        </p:blipFill>
        <p:spPr>
          <a:xfrm>
            <a:off x="5353050" y="571500"/>
            <a:ext cx="6026150" cy="5715000"/>
          </a:xfrm>
          <a:prstGeom prst="roundRect">
            <a:avLst>
              <a:gd name="adj" fmla="val 1778"/>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985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7"/>
                </a:solidFill>
                <a:latin typeface="Inter" pitchFamily="34" charset="0"/>
                <a:ea typeface="Inter" pitchFamily="34" charset="-122"/>
                <a:cs typeface="Inter" pitchFamily="34" charset="-120"/>
              </a:rPr>
              <a:t>Standard Upload vs. Delegated Upload (Phase Two)</a:t>
            </a:r>
            <a:endParaRPr lang="en-US" sz="3200" dirty="0"/>
          </a:p>
        </p:txBody>
      </p:sp>
      <p:sp>
        <p:nvSpPr>
          <p:cNvPr id="3" name="Shape 1"/>
          <p:cNvSpPr/>
          <p:nvPr/>
        </p:nvSpPr>
        <p:spPr>
          <a:xfrm>
            <a:off x="1447800" y="1394420"/>
            <a:ext cx="5080000" cy="4356100"/>
          </a:xfrm>
          <a:prstGeom prst="roundRect">
            <a:avLst>
              <a:gd name="adj" fmla="val 2332"/>
            </a:avLst>
          </a:prstGeom>
          <a:solidFill>
            <a:srgbClr val="151515"/>
          </a:solidFill>
          <a:ln/>
        </p:spPr>
      </p:sp>
      <p:pic>
        <p:nvPicPr>
          <p:cNvPr id="4" name="Image 0" descr="Standard upload by a regular user without delegation">    </p:cNvPr>
          <p:cNvPicPr>
            <a:picLocks noChangeAspect="1"/>
          </p:cNvPicPr>
          <p:nvPr/>
        </p:nvPicPr>
        <p:blipFill>
          <a:blip r:embed="rId1"/>
          <a:srcRect l="0" r="0" t="-14" b="-14"/>
          <a:stretch/>
        </p:blipFill>
        <p:spPr>
          <a:xfrm>
            <a:off x="1447800" y="1394420"/>
            <a:ext cx="5080000" cy="4356100"/>
          </a:xfrm>
          <a:prstGeom prst="roundRect">
            <a:avLst>
              <a:gd name="adj" fmla="val 2332"/>
            </a:avLst>
          </a:prstGeom>
        </p:spPr>
      </p:pic>
      <p:sp>
        <p:nvSpPr>
          <p:cNvPr id="5" name="Shape 2"/>
          <p:cNvSpPr/>
          <p:nvPr/>
        </p:nvSpPr>
        <p:spPr>
          <a:xfrm>
            <a:off x="6680200" y="1394420"/>
            <a:ext cx="4064000" cy="4368800"/>
          </a:xfrm>
          <a:prstGeom prst="roundRect">
            <a:avLst>
              <a:gd name="adj" fmla="val 2500"/>
            </a:avLst>
          </a:prstGeom>
          <a:solidFill>
            <a:srgbClr val="151515"/>
          </a:solidFill>
          <a:ln/>
        </p:spPr>
      </p:sp>
      <p:pic>
        <p:nvPicPr>
          <p:cNvPr id="6" name="Image 1" descr="Phase two: delegated upload by User B">    </p:cNvPr>
          <p:cNvPicPr>
            <a:picLocks noChangeAspect="1"/>
          </p:cNvPicPr>
          <p:nvPr/>
        </p:nvPicPr>
        <p:blipFill>
          <a:blip r:embed="rId2"/>
          <a:srcRect l="0" r="0" t="-27" b="-27"/>
          <a:stretch/>
        </p:blipFill>
        <p:spPr>
          <a:xfrm>
            <a:off x="6680200" y="1394420"/>
            <a:ext cx="4064000" cy="4368800"/>
          </a:xfrm>
          <a:prstGeom prst="roundRect">
            <a:avLst>
              <a:gd name="adj" fmla="val 2500"/>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609600" y="508000"/>
            <a:ext cx="1130198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37"/>
                </a:solidFill>
                <a:latin typeface="Inter" pitchFamily="34" charset="0"/>
                <a:ea typeface="Inter" pitchFamily="34" charset="-122"/>
                <a:cs typeface="Inter" pitchFamily="34" charset="-120"/>
              </a:rPr>
              <a:t>Project Plan: Done and Remaining</a:t>
            </a:r>
            <a:endParaRPr lang="en-US" sz="3000" dirty="0"/>
          </a:p>
        </p:txBody>
      </p:sp>
      <p:sp>
        <p:nvSpPr>
          <p:cNvPr id="3" name="Shape 1"/>
          <p:cNvSpPr/>
          <p:nvPr/>
        </p:nvSpPr>
        <p:spPr>
          <a:xfrm>
            <a:off x="612775" y="1127125"/>
            <a:ext cx="5391150" cy="4164112"/>
          </a:xfrm>
          <a:prstGeom prst="roundRect">
            <a:avLst>
              <a:gd name="adj" fmla="val 2364"/>
            </a:avLst>
          </a:prstGeom>
          <a:solidFill>
            <a:srgbClr val="FAF8F3"/>
          </a:solidFill>
          <a:ln w="6350">
            <a:solidFill>
              <a:srgbClr val="E3DDCF"/>
            </a:solidFill>
            <a:prstDash val="solid"/>
          </a:ln>
        </p:spPr>
      </p:sp>
      <p:sp>
        <p:nvSpPr>
          <p:cNvPr id="4" name="Text 2"/>
          <p:cNvSpPr/>
          <p:nvPr/>
        </p:nvSpPr>
        <p:spPr>
          <a:xfrm>
            <a:off x="819150" y="1308100"/>
            <a:ext cx="512775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8F84"/>
                </a:solidFill>
                <a:latin typeface="Inter" pitchFamily="34" charset="0"/>
                <a:ea typeface="Inter" pitchFamily="34" charset="-122"/>
                <a:cs typeface="Inter" pitchFamily="34" charset="-120"/>
              </a:rPr>
              <a:t>Done</a:t>
            </a:r>
            <a:endParaRPr lang="en-US" sz="1700" dirty="0"/>
          </a:p>
        </p:txBody>
      </p:sp>
      <p:sp>
        <p:nvSpPr>
          <p:cNvPr id="5" name="Text 3"/>
          <p:cNvSpPr/>
          <p:nvPr/>
        </p:nvSpPr>
        <p:spPr>
          <a:xfrm>
            <a:off x="819150" y="1694160"/>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Verified the first project's work</a:t>
            </a:r>
            <a:endParaRPr lang="en-US" sz="1400" dirty="0"/>
          </a:p>
        </p:txBody>
      </p:sp>
      <p:sp>
        <p:nvSpPr>
          <p:cNvPr id="6" name="Text 4"/>
          <p:cNvSpPr/>
          <p:nvPr/>
        </p:nvSpPr>
        <p:spPr>
          <a:xfrm>
            <a:off x="819150" y="2061170"/>
            <a:ext cx="51277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Designed the protocol, its messaging, and the delegation mechanism</a:t>
            </a:r>
            <a:endParaRPr lang="en-US" sz="1400" dirty="0"/>
          </a:p>
        </p:txBody>
      </p:sp>
      <p:sp>
        <p:nvSpPr>
          <p:cNvPr id="7" name="Text 5"/>
          <p:cNvSpPr/>
          <p:nvPr/>
        </p:nvSpPr>
        <p:spPr>
          <a:xfrm>
            <a:off x="819150" y="266819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Designed the block diagrams and the flowchart</a:t>
            </a:r>
            <a:endParaRPr lang="en-US" sz="1400" dirty="0"/>
          </a:p>
        </p:txBody>
      </p:sp>
      <p:sp>
        <p:nvSpPr>
          <p:cNvPr id="8" name="Text 6"/>
          <p:cNvSpPr/>
          <p:nvPr/>
        </p:nvSpPr>
        <p:spPr>
          <a:xfrm>
            <a:off x="819150" y="303520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Set up the delegation and digital signature mechanism</a:t>
            </a:r>
            <a:endParaRPr lang="en-US" sz="1400" dirty="0"/>
          </a:p>
        </p:txBody>
      </p:sp>
      <p:sp>
        <p:nvSpPr>
          <p:cNvPr id="9" name="Text 7"/>
          <p:cNvSpPr/>
          <p:nvPr/>
        </p:nvSpPr>
        <p:spPr>
          <a:xfrm>
            <a:off x="819150" y="340221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Built a script to verify delegations</a:t>
            </a:r>
            <a:endParaRPr lang="en-US" sz="1400" dirty="0"/>
          </a:p>
        </p:txBody>
      </p:sp>
      <p:sp>
        <p:nvSpPr>
          <p:cNvPr id="10" name="Text 8"/>
          <p:cNvSpPr/>
          <p:nvPr/>
        </p:nvSpPr>
        <p:spPr>
          <a:xfrm>
            <a:off x="819150" y="376922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Built a file upload service with Python and Flask</a:t>
            </a:r>
            <a:endParaRPr lang="en-US" sz="1400" dirty="0"/>
          </a:p>
        </p:txBody>
      </p:sp>
      <p:sp>
        <p:nvSpPr>
          <p:cNvPr id="11" name="Text 9"/>
          <p:cNvSpPr/>
          <p:nvPr/>
        </p:nvSpPr>
        <p:spPr>
          <a:xfrm>
            <a:off x="819150" y="413623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Added file integrity checks with SHA-256</a:t>
            </a:r>
            <a:endParaRPr lang="en-US" sz="1400" dirty="0"/>
          </a:p>
        </p:txBody>
      </p:sp>
      <p:sp>
        <p:nvSpPr>
          <p:cNvPr id="12" name="Text 10"/>
          <p:cNvSpPr/>
          <p:nvPr/>
        </p:nvSpPr>
        <p:spPr>
          <a:xfrm>
            <a:off x="819150" y="450324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Prepared log collection and alert rules in Wazuh</a:t>
            </a:r>
            <a:endParaRPr lang="en-US" sz="1400" dirty="0"/>
          </a:p>
        </p:txBody>
      </p:sp>
      <p:sp>
        <p:nvSpPr>
          <p:cNvPr id="13" name="Text 11"/>
          <p:cNvSpPr/>
          <p:nvPr/>
        </p:nvSpPr>
        <p:spPr>
          <a:xfrm>
            <a:off x="819150" y="4870252"/>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Working components with successful tests so far</a:t>
            </a:r>
            <a:endParaRPr lang="en-US" sz="1400" dirty="0"/>
          </a:p>
        </p:txBody>
      </p:sp>
      <p:sp>
        <p:nvSpPr>
          <p:cNvPr id="14" name="Shape 12"/>
          <p:cNvSpPr/>
          <p:nvPr/>
        </p:nvSpPr>
        <p:spPr>
          <a:xfrm>
            <a:off x="6188075" y="1127125"/>
            <a:ext cx="5391150" cy="4164112"/>
          </a:xfrm>
          <a:prstGeom prst="roundRect">
            <a:avLst>
              <a:gd name="adj" fmla="val 2364"/>
            </a:avLst>
          </a:prstGeom>
          <a:solidFill>
            <a:srgbClr val="FAF8F3"/>
          </a:solidFill>
          <a:ln w="6350">
            <a:solidFill>
              <a:srgbClr val="E3DDCF"/>
            </a:solidFill>
            <a:prstDash val="solid"/>
          </a:ln>
        </p:spPr>
      </p:sp>
      <p:sp>
        <p:nvSpPr>
          <p:cNvPr id="15" name="Text 13"/>
          <p:cNvSpPr/>
          <p:nvPr/>
        </p:nvSpPr>
        <p:spPr>
          <a:xfrm>
            <a:off x="6394450" y="1308100"/>
            <a:ext cx="512775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7791F"/>
                </a:solidFill>
                <a:latin typeface="Inter" pitchFamily="34" charset="0"/>
                <a:ea typeface="Inter" pitchFamily="34" charset="-122"/>
                <a:cs typeface="Inter" pitchFamily="34" charset="-120"/>
              </a:rPr>
              <a:t>Remaining</a:t>
            </a:r>
            <a:endParaRPr lang="en-US" sz="1700" dirty="0"/>
          </a:p>
        </p:txBody>
      </p:sp>
      <p:sp>
        <p:nvSpPr>
          <p:cNvPr id="16" name="Text 14"/>
          <p:cNvSpPr/>
          <p:nvPr/>
        </p:nvSpPr>
        <p:spPr>
          <a:xfrm>
            <a:off x="6394450" y="1694160"/>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Write the delegation revocation code</a:t>
            </a:r>
            <a:endParaRPr lang="en-US" sz="1400" dirty="0"/>
          </a:p>
        </p:txBody>
      </p:sp>
      <p:sp>
        <p:nvSpPr>
          <p:cNvPr id="17" name="Text 15"/>
          <p:cNvSpPr/>
          <p:nvPr/>
        </p:nvSpPr>
        <p:spPr>
          <a:xfrm>
            <a:off x="6394450" y="2061170"/>
            <a:ext cx="51277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Nextcloud Integration: Connect the file upload service to Nextcloud</a:t>
            </a:r>
            <a:endParaRPr lang="en-US" sz="1400" dirty="0"/>
          </a:p>
        </p:txBody>
      </p:sp>
      <p:sp>
        <p:nvSpPr>
          <p:cNvPr id="18" name="Text 16"/>
          <p:cNvSpPr/>
          <p:nvPr/>
        </p:nvSpPr>
        <p:spPr>
          <a:xfrm>
            <a:off x="6394450" y="2668191"/>
            <a:ext cx="51277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Test replayed, expired, and tampered requests, then evaluate</a:t>
            </a:r>
            <a:endParaRPr lang="en-US" sz="1400" dirty="0"/>
          </a:p>
        </p:txBody>
      </p:sp>
      <p:sp>
        <p:nvSpPr>
          <p:cNvPr id="19" name="Text 17"/>
          <p:cNvSpPr/>
          <p:nvPr/>
        </p:nvSpPr>
        <p:spPr>
          <a:xfrm>
            <a:off x="6394450" y="327521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Complete the real alerts in Wazuh</a:t>
            </a:r>
            <a:endParaRPr lang="en-US" sz="1400" dirty="0"/>
          </a:p>
        </p:txBody>
      </p:sp>
      <p:sp>
        <p:nvSpPr>
          <p:cNvPr id="20" name="Text 18"/>
          <p:cNvSpPr/>
          <p:nvPr/>
        </p:nvSpPr>
        <p:spPr>
          <a:xfrm>
            <a:off x="6394450" y="364222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Run the final evaluation tests and document the results</a:t>
            </a:r>
            <a:endParaRPr lang="en-US" sz="1400" dirty="0"/>
          </a:p>
        </p:txBody>
      </p:sp>
      <p:sp>
        <p:nvSpPr>
          <p:cNvPr id="21" name="Text 19"/>
          <p:cNvSpPr/>
          <p:nvPr/>
        </p:nvSpPr>
        <p:spPr>
          <a:xfrm>
            <a:off x="6394450" y="400923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Complete the integration and the final security controls</a:t>
            </a:r>
            <a:endParaRPr lang="en-US" sz="1400" dirty="0"/>
          </a:p>
        </p:txBody>
      </p:sp>
      <p:sp>
        <p:nvSpPr>
          <p:cNvPr id="22" name="Text 20"/>
          <p:cNvSpPr/>
          <p:nvPr/>
        </p:nvSpPr>
        <p:spPr>
          <a:xfrm>
            <a:off x="6394450" y="4376241"/>
            <a:ext cx="51277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A37"/>
                </a:solidFill>
                <a:latin typeface="Inter" pitchFamily="34" charset="0"/>
                <a:ea typeface="Inter" pitchFamily="34" charset="-122"/>
                <a:cs typeface="Inter" pitchFamily="34" charset="-120"/>
              </a:rPr>
              <a:t>Finalize the report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Text 0"/>
          <p:cNvSpPr/>
          <p:nvPr>
            <p:ph type="title"/>
          </p:nvPr>
        </p:nvSpPr>
        <p:spPr>
          <a:xfrm>
            <a:off x="609600" y="508000"/>
            <a:ext cx="1130198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A37"/>
                </a:solidFill>
                <a:latin typeface="Inter" pitchFamily="34" charset="0"/>
                <a:ea typeface="Inter" pitchFamily="34" charset="-122"/>
                <a:cs typeface="Inter" pitchFamily="34" charset="-120"/>
              </a:rPr>
              <a:t>References</a:t>
            </a:r>
            <a:endParaRPr lang="en-US" sz="3000" dirty="0"/>
          </a:p>
        </p:txBody>
      </p:sp>
      <p:sp>
        <p:nvSpPr>
          <p:cNvPr id="3" name="Text 1"/>
          <p:cNvSpPr/>
          <p:nvPr/>
        </p:nvSpPr>
        <p:spPr>
          <a:xfrm>
            <a:off x="609600" y="1123950"/>
            <a:ext cx="113019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A37"/>
                </a:solidFill>
                <a:latin typeface="Inter" pitchFamily="34" charset="0"/>
                <a:ea typeface="Inter" pitchFamily="34" charset="-122"/>
                <a:cs typeface="Inter" pitchFamily="34" charset="-120"/>
              </a:rPr>
              <a:t>[1] J. Feng and Y. Chen, “A fair non-repudiation framework for data integrity in cloud storage services,” </a:t>
            </a:r>
            <a:r>
              <a:rPr lang="en-US" sz="1300" i="1" dirty="0">
                <a:solidFill>
                  <a:srgbClr val="1F2A37"/>
                </a:solidFill>
                <a:latin typeface="Inter" pitchFamily="34" charset="0"/>
                <a:ea typeface="Inter" pitchFamily="34" charset="-122"/>
                <a:cs typeface="Inter" pitchFamily="34" charset="-120"/>
              </a:rPr>
              <a:t>International Journal of Cloud Computing</a:t>
            </a:r>
            <a:r>
              <a:rPr lang="en-US" sz="1300" dirty="0">
                <a:solidFill>
                  <a:srgbClr val="1F2A37"/>
                </a:solidFill>
                <a:latin typeface="Inter" pitchFamily="34" charset="0"/>
                <a:ea typeface="Inter" pitchFamily="34" charset="-122"/>
                <a:cs typeface="Inter" pitchFamily="34" charset="-120"/>
              </a:rPr>
              <a:t>, vol. 2, no. 1, pp. 20–47, 2013.</a:t>
            </a:r>
            <a:endParaRPr lang="en-US" sz="1300" dirty="0"/>
          </a:p>
        </p:txBody>
      </p:sp>
      <p:sp>
        <p:nvSpPr>
          <p:cNvPr id="4" name="Text 2"/>
          <p:cNvSpPr/>
          <p:nvPr/>
        </p:nvSpPr>
        <p:spPr>
          <a:xfrm>
            <a:off x="609600" y="1683941"/>
            <a:ext cx="113019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A37"/>
                </a:solidFill>
                <a:latin typeface="Inter" pitchFamily="34" charset="0"/>
                <a:ea typeface="Inter" pitchFamily="34" charset="-122"/>
                <a:cs typeface="Inter" pitchFamily="34" charset="-120"/>
              </a:rPr>
              <a:t>[2] P. Goswami et al., “Investigation on storage level data integrity strategies in cloud computing: Classification, security obstructions, challenges and vulnerability,” </a:t>
            </a:r>
            <a:r>
              <a:rPr lang="en-US" sz="1300" i="1" dirty="0">
                <a:solidFill>
                  <a:srgbClr val="1F2A37"/>
                </a:solidFill>
                <a:latin typeface="Inter" pitchFamily="34" charset="0"/>
                <a:ea typeface="Inter" pitchFamily="34" charset="-122"/>
                <a:cs typeface="Inter" pitchFamily="34" charset="-120"/>
              </a:rPr>
              <a:t>Journal of Cloud Computing</a:t>
            </a:r>
            <a:r>
              <a:rPr lang="en-US" sz="1300" dirty="0">
                <a:solidFill>
                  <a:srgbClr val="1F2A37"/>
                </a:solidFill>
                <a:latin typeface="Inter" pitchFamily="34" charset="0"/>
                <a:ea typeface="Inter" pitchFamily="34" charset="-122"/>
                <a:cs typeface="Inter" pitchFamily="34" charset="-120"/>
              </a:rPr>
              <a:t>, vol. 13, art. 45, 2024.</a:t>
            </a:r>
            <a:endParaRPr lang="en-US" sz="1300" dirty="0"/>
          </a:p>
        </p:txBody>
      </p:sp>
      <p:sp>
        <p:nvSpPr>
          <p:cNvPr id="5" name="Text 3"/>
          <p:cNvSpPr/>
          <p:nvPr/>
        </p:nvSpPr>
        <p:spPr>
          <a:xfrm>
            <a:off x="609600" y="2243931"/>
            <a:ext cx="115824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A37"/>
                </a:solidFill>
                <a:latin typeface="Inter" pitchFamily="34" charset="0"/>
                <a:ea typeface="Inter" pitchFamily="34" charset="-122"/>
                <a:cs typeface="Inter" pitchFamily="34" charset="-120"/>
              </a:rPr>
              <a:t>[3] J. Du et al., “Identity-based controlled delegated outsourcing data integrity auditing scheme,” </a:t>
            </a:r>
            <a:r>
              <a:rPr lang="en-US" sz="1300" i="1" dirty="0">
                <a:solidFill>
                  <a:srgbClr val="1F2A37"/>
                </a:solidFill>
                <a:latin typeface="Inter" pitchFamily="34" charset="0"/>
                <a:ea typeface="Inter" pitchFamily="34" charset="-122"/>
                <a:cs typeface="Inter" pitchFamily="34" charset="-120"/>
              </a:rPr>
              <a:t>Scientific Reports</a:t>
            </a:r>
            <a:r>
              <a:rPr lang="en-US" sz="1300" dirty="0">
                <a:solidFill>
                  <a:srgbClr val="1F2A37"/>
                </a:solidFill>
                <a:latin typeface="Inter" pitchFamily="34" charset="0"/>
                <a:ea typeface="Inter" pitchFamily="34" charset="-122"/>
                <a:cs typeface="Inter" pitchFamily="34" charset="-120"/>
              </a:rPr>
              <a:t>, vol. 14, art. 7582, 2024.</a:t>
            </a:r>
            <a:endParaRPr lang="en-US" sz="1300" dirty="0"/>
          </a:p>
        </p:txBody>
      </p:sp>
      <p:sp>
        <p:nvSpPr>
          <p:cNvPr id="6" name="Text 4"/>
          <p:cNvSpPr/>
          <p:nvPr/>
        </p:nvSpPr>
        <p:spPr>
          <a:xfrm>
            <a:off x="609600" y="2581077"/>
            <a:ext cx="113019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A37"/>
                </a:solidFill>
                <a:latin typeface="Inter" pitchFamily="34" charset="0"/>
                <a:ea typeface="Inter" pitchFamily="34" charset="-122"/>
                <a:cs typeface="Inter" pitchFamily="34" charset="-120"/>
              </a:rPr>
              <a:t>[4] G. Han and H. Li, “Sec-Auditor: A blockchain-based data auditing solution for ensuring integrity and semantic correctness,” </a:t>
            </a:r>
            <a:r>
              <a:rPr lang="en-US" sz="1300" i="1" dirty="0">
                <a:solidFill>
                  <a:srgbClr val="1F2A37"/>
                </a:solidFill>
                <a:latin typeface="Inter" pitchFamily="34" charset="0"/>
                <a:ea typeface="Inter" pitchFamily="34" charset="-122"/>
                <a:cs typeface="Inter" pitchFamily="34" charset="-120"/>
              </a:rPr>
              <a:t>Computers, Materials &amp; Continua</a:t>
            </a:r>
            <a:r>
              <a:rPr lang="en-US" sz="1300" dirty="0">
                <a:solidFill>
                  <a:srgbClr val="1F2A37"/>
                </a:solidFill>
                <a:latin typeface="Inter" pitchFamily="34" charset="0"/>
                <a:ea typeface="Inter" pitchFamily="34" charset="-122"/>
                <a:cs typeface="Inter" pitchFamily="34" charset="-120"/>
              </a:rPr>
              <a:t>, vol. 80, no. 2, pp. 2121–2137, 2024.</a:t>
            </a:r>
            <a:endParaRPr lang="en-US" sz="1300" dirty="0"/>
          </a:p>
        </p:txBody>
      </p:sp>
      <p:sp>
        <p:nvSpPr>
          <p:cNvPr id="7" name="Text 5"/>
          <p:cNvSpPr/>
          <p:nvPr/>
        </p:nvSpPr>
        <p:spPr>
          <a:xfrm>
            <a:off x="609600" y="3141067"/>
            <a:ext cx="113019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A37"/>
                </a:solidFill>
                <a:latin typeface="Inter" pitchFamily="34" charset="0"/>
                <a:ea typeface="Inter" pitchFamily="34" charset="-122"/>
                <a:cs typeface="Inter" pitchFamily="34" charset="-120"/>
              </a:rPr>
              <a:t>[5] H. Lei et al., “An improved blockchain-based cloud auditing scheme using dynamic aggregate signatures,” </a:t>
            </a:r>
            <a:r>
              <a:rPr lang="en-US" sz="1300" i="1" dirty="0">
                <a:solidFill>
                  <a:srgbClr val="1F2A37"/>
                </a:solidFill>
                <a:latin typeface="Inter" pitchFamily="34" charset="0"/>
                <a:ea typeface="Inter" pitchFamily="34" charset="-122"/>
                <a:cs typeface="Inter" pitchFamily="34" charset="-120"/>
              </a:rPr>
              <a:t>Computers, Materials &amp; Continua</a:t>
            </a:r>
            <a:r>
              <a:rPr lang="en-US" sz="1300" dirty="0">
                <a:solidFill>
                  <a:srgbClr val="1F2A37"/>
                </a:solidFill>
                <a:latin typeface="Inter" pitchFamily="34" charset="0"/>
                <a:ea typeface="Inter" pitchFamily="34" charset="-122"/>
                <a:cs typeface="Inter" pitchFamily="34" charset="-120"/>
              </a:rPr>
              <a:t>, vol. 86, no. 2, 2026.</a:t>
            </a:r>
            <a:endParaRPr lang="en-US" sz="1300" dirty="0"/>
          </a:p>
        </p:txBody>
      </p:sp>
      <p:sp>
        <p:nvSpPr>
          <p:cNvPr id="8" name="Text 6"/>
          <p:cNvSpPr/>
          <p:nvPr/>
        </p:nvSpPr>
        <p:spPr>
          <a:xfrm>
            <a:off x="609600" y="3701058"/>
            <a:ext cx="1130198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A37"/>
                </a:solidFill>
                <a:latin typeface="Inter" pitchFamily="34" charset="0"/>
                <a:ea typeface="Inter" pitchFamily="34" charset="-122"/>
                <a:cs typeface="Inter" pitchFamily="34" charset="-120"/>
              </a:rPr>
              <a:t>[6] R. Li et al., “Integrated protocol for verifiable confidential cloud computing and data integrity auditing,” </a:t>
            </a:r>
            <a:r>
              <a:rPr lang="en-US" sz="1300" i="1" dirty="0">
                <a:solidFill>
                  <a:srgbClr val="1F2A37"/>
                </a:solidFill>
                <a:latin typeface="Inter" pitchFamily="34" charset="0"/>
                <a:ea typeface="Inter" pitchFamily="34" charset="-122"/>
                <a:cs typeface="Inter" pitchFamily="34" charset="-120"/>
              </a:rPr>
              <a:t>Journal of King Saud University Computer and Information Sciences</a:t>
            </a:r>
            <a:r>
              <a:rPr lang="en-US" sz="1300" dirty="0">
                <a:solidFill>
                  <a:srgbClr val="1F2A37"/>
                </a:solidFill>
                <a:latin typeface="Inter" pitchFamily="34" charset="0"/>
                <a:ea typeface="Inter" pitchFamily="34" charset="-122"/>
                <a:cs typeface="Inter" pitchFamily="34" charset="-120"/>
              </a:rPr>
              <a:t>, vol. 37, art. 299, 2025.</a:t>
            </a:r>
            <a:endParaRPr lang="en-US" sz="1300" dirty="0"/>
          </a:p>
        </p:txBody>
      </p:sp>
    </p:spTree>
  </p:cSld>
  <p:clrMapOvr>
    <a:masterClrMapping/>
  </p:clrMapOvr>
</p:sld>
</file>

<file path=ppt/theme/theme1.xml><?xml version="1.0" encoding="utf-8"?>
<a:theme xmlns:a="http://schemas.openxmlformats.org/drawingml/2006/main" name="Graduation Project Presentation">
  <a:themeElements>
    <a:clrScheme name="Graduation Project Presentation">
      <a:dk1>
        <a:srgbClr val="1F2A37"/>
      </a:dk1>
      <a:lt1>
        <a:srgbClr val="FAF8F3"/>
      </a:lt1>
      <a:dk2>
        <a:srgbClr val="565E66"/>
      </a:dk2>
      <a:lt2>
        <a:srgbClr val="E4E3E0"/>
      </a:lt2>
      <a:accent1>
        <a:srgbClr val="1F8F84"/>
      </a:accent1>
      <a:accent2>
        <a:srgbClr val="B7791F"/>
      </a:accent2>
      <a:accent3>
        <a:srgbClr val="5B6573"/>
      </a:accent3>
      <a:accent4>
        <a:srgbClr val="374151"/>
      </a:accent4>
      <a:accent5>
        <a:srgbClr val="9AA0A6"/>
      </a:accent5>
      <a:accent6>
        <a:srgbClr val="777C82"/>
      </a:accent6>
      <a:hlink>
        <a:srgbClr val="0563C1"/>
      </a:hlink>
      <a:folHlink>
        <a:srgbClr val="954F72"/>
      </a:folHlink>
    </a:clrScheme>
    <a:fontScheme name="Graduation Project Presentatio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Graduation Project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2026-10-28T16:45:53Z</dcterms:created>
  <dcterms:modified xsi:type="dcterms:W3CDTF">2026-10-28T16:45:53Z</dcterms:modified>
</cp:coreProperties>
</file>